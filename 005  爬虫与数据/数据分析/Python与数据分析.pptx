
<file path=[Content_Types].xml><?xml version="1.0" encoding="utf-8"?>
<Types xmlns="http://schemas.openxmlformats.org/package/2006/content-types">
  <Default Extension="bmp" ContentType="image/bmp"/>
  <Default Extension="png" ContentType="image/png"/>
  <Default Extension="rels" ContentType="application/vnd.openxmlformats-package.relationships+xml"/>
  <Default Extension="xml" ContentType="application/xml"/>
  <Default Extension="tif" ContentType="image/t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4E9"/>
          </a:solidFill>
        </a:fill>
      </a:tcStyle>
    </a:wholeTbl>
    <a:band2H>
      <a:tcTxStyle/>
      <a:tcStyle>
        <a:tcBdr/>
        <a:fill>
          <a:solidFill>
            <a:srgbClr val="F0F2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BDBDB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6CACA"/>
          </a:solidFill>
        </a:fill>
      </a:tcStyle>
    </a:wholeTbl>
    <a:band2H>
      <a:tcTxStyle/>
      <a:tcStyle>
        <a:tcBdr/>
        <a:fill>
          <a:solidFill>
            <a:srgbClr val="F3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6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1" name="Shape 19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6155088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685797" y="1879598"/>
            <a:ext cx="7772403" cy="109542"/>
            <a:chOff x="-1" y="-1"/>
            <a:chExt cx="7772401" cy="109541"/>
          </a:xfrm>
        </p:grpSpPr>
        <p:sp>
          <p:nvSpPr>
            <p:cNvPr id="16" name="Shape 16"/>
            <p:cNvSpPr/>
            <p:nvPr/>
          </p:nvSpPr>
          <p:spPr>
            <a:xfrm>
              <a:off x="-2" y="-1"/>
              <a:ext cx="4803347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7" name="Shape 17"/>
            <p:cNvSpPr/>
            <p:nvPr/>
          </p:nvSpPr>
          <p:spPr>
            <a:xfrm>
              <a:off x="-1" y="-2"/>
              <a:ext cx="777240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9" name="Shape 19"/>
          <p:cNvSpPr/>
          <p:nvPr/>
        </p:nvSpPr>
        <p:spPr>
          <a:xfrm>
            <a:off x="684213" y="1223010"/>
            <a:ext cx="5686428" cy="62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 anchor="b">
            <a:spAutoFit/>
          </a:bodyPr>
          <a:lstStyle/>
          <a:p>
            <a:pPr>
              <a:defRPr sz="3000">
                <a:latin typeface="Verdana"/>
                <a:ea typeface="Verdana"/>
                <a:cs typeface="Verdana"/>
                <a:sym typeface="Verdana"/>
              </a:defRPr>
            </a:pPr>
            <a:r>
              <a:t>Python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全栈班</a:t>
            </a:r>
          </a:p>
        </p:txBody>
      </p:sp>
      <p:pic>
        <p:nvPicPr>
          <p:cNvPr id="20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470072" y="1135664"/>
            <a:ext cx="2291940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684214" y="3071815"/>
            <a:ext cx="7773986" cy="603252"/>
          </a:xfrm>
          <a:prstGeom prst="rect">
            <a:avLst/>
          </a:prstGeom>
        </p:spPr>
        <p:txBody>
          <a:bodyPr/>
          <a:lstStyle>
            <a:lvl1pPr algn="ctr">
              <a:defRPr sz="4000"/>
            </a:lvl1pPr>
          </a:lstStyle>
          <a:p>
            <a:r>
              <a:t>标题文本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40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38" name="Shape 38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39" name="Shape 39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1" name="Shape 41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42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xfrm>
            <a:off x="623887" y="1709740"/>
            <a:ext cx="7886701" cy="2852737"/>
          </a:xfrm>
          <a:prstGeom prst="rect">
            <a:avLst/>
          </a:prstGeom>
        </p:spPr>
        <p:txBody>
          <a:bodyPr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sz="quarter" idx="1"/>
          </p:nvPr>
        </p:nvSpPr>
        <p:spPr>
          <a:xfrm>
            <a:off x="623887" y="4589464"/>
            <a:ext cx="7886701" cy="15001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00"/>
              </a:spcBef>
              <a:buClrTx/>
              <a:buSzTx/>
              <a:buFontTx/>
              <a:buNone/>
              <a:defRPr sz="1800"/>
            </a:lvl1pPr>
            <a:lvl2pPr marL="0" indent="0">
              <a:spcBef>
                <a:spcPts val="400"/>
              </a:spcBef>
              <a:buClrTx/>
              <a:buSzTx/>
              <a:buFontTx/>
              <a:buNone/>
              <a:defRPr sz="1800"/>
            </a:lvl2pPr>
            <a:lvl3pPr marL="0" indent="0">
              <a:spcBef>
                <a:spcPts val="400"/>
              </a:spcBef>
              <a:buClrTx/>
              <a:buSzTx/>
              <a:buFontTx/>
              <a:buNone/>
              <a:defRPr sz="1800"/>
            </a:lvl3pPr>
            <a:lvl4pPr marL="0" indent="0">
              <a:spcBef>
                <a:spcPts val="400"/>
              </a:spcBef>
              <a:buClrTx/>
              <a:buSzTx/>
              <a:buFontTx/>
              <a:buNone/>
              <a:defRPr sz="1800"/>
            </a:lvl4pPr>
            <a:lvl5pPr marL="0" indent="0">
              <a:spcBef>
                <a:spcPts val="400"/>
              </a:spcBef>
              <a:buClrTx/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4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52" name="Shape 52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" name="Shape 53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5" name="Shape 55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6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Shape 5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Shape 58"/>
          <p:cNvSpPr>
            <a:spLocks noGrp="1"/>
          </p:cNvSpPr>
          <p:nvPr>
            <p:ph type="body" sz="half" idx="1"/>
          </p:nvPr>
        </p:nvSpPr>
        <p:spPr>
          <a:xfrm>
            <a:off x="566737" y="1052515"/>
            <a:ext cx="3924302" cy="496728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9" name="Shape 5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8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66" name="Shape 66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67" name="Shape 67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69" name="Shape 69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70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630237" y="365127"/>
            <a:ext cx="7886701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72" name="Shape 72"/>
          <p:cNvSpPr>
            <a:spLocks noGrp="1"/>
          </p:cNvSpPr>
          <p:nvPr>
            <p:ph type="body" sz="quarter" idx="1"/>
          </p:nvPr>
        </p:nvSpPr>
        <p:spPr>
          <a:xfrm>
            <a:off x="630239" y="1681163"/>
            <a:ext cx="3868738" cy="82391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ClrTx/>
              <a:buSzTx/>
              <a:buFontTx/>
              <a:buNone/>
              <a:defRPr sz="1800" b="1"/>
            </a:lvl1pPr>
            <a:lvl2pPr marL="0" indent="0">
              <a:spcBef>
                <a:spcPts val="400"/>
              </a:spcBef>
              <a:buClrTx/>
              <a:buSzTx/>
              <a:buFontTx/>
              <a:buNone/>
              <a:defRPr sz="1800" b="1"/>
            </a:lvl2pPr>
            <a:lvl3pPr marL="0" indent="0">
              <a:spcBef>
                <a:spcPts val="400"/>
              </a:spcBef>
              <a:buClrTx/>
              <a:buSzTx/>
              <a:buFontTx/>
              <a:buNone/>
              <a:defRPr sz="1800" b="1"/>
            </a:lvl3pPr>
            <a:lvl4pPr marL="0" indent="0">
              <a:spcBef>
                <a:spcPts val="400"/>
              </a:spcBef>
              <a:buClrTx/>
              <a:buSzTx/>
              <a:buFontTx/>
              <a:buNone/>
              <a:defRPr sz="1800" b="1"/>
            </a:lvl4pPr>
            <a:lvl5pPr marL="0" indent="0">
              <a:spcBef>
                <a:spcPts val="400"/>
              </a:spcBef>
              <a:buClrTx/>
              <a:buSzTx/>
              <a:buFontTx/>
              <a:buNone/>
              <a:defRPr sz="18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3" name="Shape 73"/>
          <p:cNvSpPr>
            <a:spLocks noGrp="1"/>
          </p:cNvSpPr>
          <p:nvPr>
            <p:ph type="body" sz="quarter" idx="13"/>
          </p:nvPr>
        </p:nvSpPr>
        <p:spPr>
          <a:xfrm>
            <a:off x="4629150" y="1681163"/>
            <a:ext cx="3887788" cy="82391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3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81" name="Shape 81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82" name="Shape 82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84" name="Shape 84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85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Shape 8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87" name="Shape 8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6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94" name="Shape 94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95" name="Shape 95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97" name="Shape 97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98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Shape 9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8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106" name="Shape 106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07" name="Shape 107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9" name="Shape 109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10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hape 11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6" cy="16002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112" name="Shape 112"/>
          <p:cNvSpPr>
            <a:spLocks noGrp="1"/>
          </p:cNvSpPr>
          <p:nvPr>
            <p:ph type="body" sz="half" idx="1"/>
          </p:nvPr>
        </p:nvSpPr>
        <p:spPr>
          <a:xfrm>
            <a:off x="3887787" y="987427"/>
            <a:ext cx="4629152" cy="487362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27812" indent="-374196">
              <a:defRPr sz="2400"/>
            </a:lvl2pPr>
            <a:lvl3pPr marL="1077516" indent="-395287">
              <a:defRPr sz="2400"/>
            </a:lvl3pPr>
            <a:lvl4pPr marL="1444703" indent="-464819">
              <a:defRPr sz="2400"/>
            </a:lvl4pPr>
            <a:lvl5pPr marL="1749743" indent="-478155"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3"/>
          </p:nvPr>
        </p:nvSpPr>
        <p:spPr>
          <a:xfrm>
            <a:off x="630239" y="2057400"/>
            <a:ext cx="2949576" cy="3811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" name="Shape 11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123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121" name="Shape 121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22" name="Shape 122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24" name="Shape 124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25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hape 126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6" cy="16002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127" name="Shape 127"/>
          <p:cNvSpPr>
            <a:spLocks noGrp="1"/>
          </p:cNvSpPr>
          <p:nvPr>
            <p:ph type="pic" sz="half" idx="13"/>
          </p:nvPr>
        </p:nvSpPr>
        <p:spPr>
          <a:xfrm>
            <a:off x="3887787" y="987427"/>
            <a:ext cx="4629152" cy="48736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8" name="Shape 128"/>
          <p:cNvSpPr>
            <a:spLocks noGrp="1"/>
          </p:cNvSpPr>
          <p:nvPr>
            <p:ph type="body" sz="quarter" idx="1"/>
          </p:nvPr>
        </p:nvSpPr>
        <p:spPr>
          <a:xfrm>
            <a:off x="630239" y="2057400"/>
            <a:ext cx="2949576" cy="38115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ClrTx/>
              <a:buSzTx/>
              <a:buFontTx/>
              <a:buNone/>
              <a:defRPr sz="1200"/>
            </a:lvl1pPr>
            <a:lvl2pPr marL="0" indent="0">
              <a:spcBef>
                <a:spcPts val="200"/>
              </a:spcBef>
              <a:buClrTx/>
              <a:buSzTx/>
              <a:buFontTx/>
              <a:buNone/>
              <a:defRPr sz="1200"/>
            </a:lvl2pPr>
            <a:lvl3pPr marL="0" indent="0">
              <a:spcBef>
                <a:spcPts val="200"/>
              </a:spcBef>
              <a:buClrTx/>
              <a:buSzTx/>
              <a:buFontTx/>
              <a:buNone/>
              <a:defRPr sz="1200"/>
            </a:lvl3pPr>
            <a:lvl4pPr marL="0" indent="0">
              <a:spcBef>
                <a:spcPts val="200"/>
              </a:spcBef>
              <a:buClrTx/>
              <a:buSzTx/>
              <a:buFontTx/>
              <a:buNone/>
              <a:defRPr sz="1200"/>
            </a:lvl4pPr>
            <a:lvl5pPr marL="0" indent="0">
              <a:spcBef>
                <a:spcPts val="200"/>
              </a:spcBef>
              <a:buClrTx/>
              <a:buSzTx/>
              <a:buFontTx/>
              <a:buNone/>
              <a:defRPr sz="1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9" name="Shape 1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138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136" name="Shape 136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37" name="Shape 137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39" name="Shape 139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40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42" name="Shape 14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3" name="Shape 14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2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150" name="Shape 150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51" name="Shape 151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53" name="Shape 153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54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Shape 155"/>
          <p:cNvSpPr>
            <a:spLocks noGrp="1"/>
          </p:cNvSpPr>
          <p:nvPr>
            <p:ph type="title"/>
          </p:nvPr>
        </p:nvSpPr>
        <p:spPr>
          <a:xfrm>
            <a:off x="6573839" y="304800"/>
            <a:ext cx="2001837" cy="57150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56" name="Shape 156"/>
          <p:cNvSpPr>
            <a:spLocks noGrp="1"/>
          </p:cNvSpPr>
          <p:nvPr>
            <p:ph type="body" idx="1"/>
          </p:nvPr>
        </p:nvSpPr>
        <p:spPr>
          <a:xfrm>
            <a:off x="566739" y="304800"/>
            <a:ext cx="5854702" cy="57150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7" name="Shape 15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6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164" name="Shape 164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65" name="Shape 165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67" name="Shape 167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68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Shape 16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70" name="Shape 170"/>
          <p:cNvSpPr>
            <a:spLocks noGrp="1"/>
          </p:cNvSpPr>
          <p:nvPr>
            <p:ph type="body" sz="half" idx="1"/>
          </p:nvPr>
        </p:nvSpPr>
        <p:spPr>
          <a:xfrm>
            <a:off x="566737" y="1052515"/>
            <a:ext cx="3924302" cy="496728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1" name="Shape 17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roup 180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178" name="Shape 178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79" name="Shape 179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81" name="Shape 181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82" name="image1.png"/>
          <p:cNvPicPr>
            <a:picLocks noChangeAspect="1"/>
          </p:cNvPicPr>
          <p:nvPr/>
        </p:nvPicPr>
        <p:blipFill>
          <a:blip r:embed="rId2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Shape 183"/>
          <p:cNvSpPr>
            <a:spLocks noGrp="1"/>
          </p:cNvSpPr>
          <p:nvPr>
            <p:ph type="body" idx="1"/>
          </p:nvPr>
        </p:nvSpPr>
        <p:spPr>
          <a:xfrm>
            <a:off x="566739" y="304800"/>
            <a:ext cx="8008937" cy="57150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4" name="Shape 18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bm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598" y="908048"/>
            <a:ext cx="7958143" cy="109542"/>
            <a:chOff x="-1" y="-1"/>
            <a:chExt cx="7958141" cy="109541"/>
          </a:xfrm>
        </p:grpSpPr>
        <p:sp>
          <p:nvSpPr>
            <p:cNvPr id="2" name="Shape 2"/>
            <p:cNvSpPr/>
            <p:nvPr/>
          </p:nvSpPr>
          <p:spPr>
            <a:xfrm>
              <a:off x="-2" y="-1"/>
              <a:ext cx="4655515" cy="10954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300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3" name="Shape 3"/>
            <p:cNvSpPr/>
            <p:nvPr/>
          </p:nvSpPr>
          <p:spPr>
            <a:xfrm>
              <a:off x="-1" y="-2"/>
              <a:ext cx="7958142" cy="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" name="Shape 5"/>
          <p:cNvSpPr/>
          <p:nvPr/>
        </p:nvSpPr>
        <p:spPr>
          <a:xfrm>
            <a:off x="609600" y="6309995"/>
            <a:ext cx="7924801" cy="2"/>
          </a:xfrm>
          <a:prstGeom prst="line">
            <a:avLst/>
          </a:prstGeom>
          <a:ln w="3175">
            <a:solidFill>
              <a:schemeClr val="accent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6" name="image1.png"/>
          <p:cNvPicPr>
            <a:picLocks noChangeAspect="1"/>
          </p:cNvPicPr>
          <p:nvPr/>
        </p:nvPicPr>
        <p:blipFill>
          <a:blip r:embed="rId16">
            <a:extLst/>
          </a:blip>
          <a:srcRect b="50151"/>
          <a:stretch>
            <a:fillRect/>
          </a:stretch>
        </p:blipFill>
        <p:spPr>
          <a:xfrm>
            <a:off x="6553200" y="212874"/>
            <a:ext cx="2291939" cy="85347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03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 anchor="b">
            <a:normAutofit/>
          </a:bodyPr>
          <a:lstStyle/>
          <a:p>
            <a:r>
              <a:t>标题文本</a:t>
            </a:r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566737" y="1052515"/>
            <a:ext cx="8001001" cy="4967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" name="Shape 9"/>
          <p:cNvSpPr>
            <a:spLocks noGrp="1"/>
          </p:cNvSpPr>
          <p:nvPr>
            <p:ph type="sldNum" sz="quarter" idx="2"/>
          </p:nvPr>
        </p:nvSpPr>
        <p:spPr>
          <a:xfrm>
            <a:off x="8284932" y="6453189"/>
            <a:ext cx="249470" cy="2311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>
            <a:spAutoFit/>
          </a:bodyPr>
          <a:lstStyle>
            <a:lvl1pPr algn="r">
              <a:defRPr sz="9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52425" marR="0" indent="-352425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2"/>
        </a:buClr>
        <a:buSzPct val="100000"/>
        <a:buFont typeface="Wingdings"/>
        <a:buChar char="□"/>
        <a:tabLst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1pPr>
      <a:lvl2pPr marL="732735" marR="0" indent="-3791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2"/>
        </a:buClr>
        <a:buSzPct val="100000"/>
        <a:buFont typeface="Wingdings"/>
        <a:buChar char="■"/>
        <a:tabLst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2pPr>
      <a:lvl3pPr marL="1065889" marR="0" indent="-38366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2"/>
        </a:buClr>
        <a:buSzPct val="100000"/>
        <a:buFont typeface="Wingdings"/>
        <a:buChar char="□"/>
        <a:tabLst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3pPr>
      <a:lvl4pPr marL="1405969" marR="0" indent="-426085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2"/>
        </a:buClr>
        <a:buSzPct val="100000"/>
        <a:buFont typeface="Wingdings"/>
        <a:buChar char="■"/>
        <a:tabLst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4pPr>
      <a:lvl5pPr marL="1709896" marR="0" indent="-43830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2"/>
        </a:buClr>
        <a:buSzPct val="100000"/>
        <a:buFont typeface="Wingdings"/>
        <a:buChar char="▪"/>
        <a:tabLst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5pPr>
      <a:lvl6pPr marL="2004646" marR="0" indent="-290146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2"/>
        </a:buClr>
        <a:buSzPct val="100000"/>
        <a:buFont typeface="Wingdings"/>
        <a:buChar char="•"/>
        <a:tabLst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6pPr>
      <a:lvl7pPr marL="2347546" marR="0" indent="-290146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2"/>
        </a:buClr>
        <a:buSzPct val="100000"/>
        <a:buFont typeface="Wingdings"/>
        <a:buChar char="•"/>
        <a:tabLst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7pPr>
      <a:lvl8pPr marL="2690446" marR="0" indent="-290146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2"/>
        </a:buClr>
        <a:buSzPct val="100000"/>
        <a:buFont typeface="Wingdings"/>
        <a:buChar char="•"/>
        <a:tabLst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8pPr>
      <a:lvl9pPr marL="3033346" marR="0" indent="-290146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2"/>
        </a:buClr>
        <a:buSzPct val="100000"/>
        <a:buFont typeface="Wingdings"/>
        <a:buChar char="•"/>
        <a:tabLst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qer.io/home/" TargetMode="External"/><Relationship Id="rId7" Type="http://schemas.openxmlformats.org/officeDocument/2006/relationships/hyperlink" Target="https://github.com/yutiansut/quantaxis" TargetMode="External"/><Relationship Id="rId2" Type="http://schemas.openxmlformats.org/officeDocument/2006/relationships/hyperlink" Target="https://www.joinquan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icequant/rqalpha" TargetMode="External"/><Relationship Id="rId5" Type="http://schemas.openxmlformats.org/officeDocument/2006/relationships/hyperlink" Target="https://www.quantopian.com/" TargetMode="External"/><Relationship Id="rId4" Type="http://schemas.openxmlformats.org/officeDocument/2006/relationships/hyperlink" Target="https://www.ricequant.com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/>
          </p:cNvSpPr>
          <p:nvPr>
            <p:ph type="title"/>
          </p:nvPr>
        </p:nvSpPr>
        <p:spPr>
          <a:xfrm>
            <a:off x="684213" y="3071815"/>
            <a:ext cx="7773986" cy="603252"/>
          </a:xfrm>
          <a:prstGeom prst="rect">
            <a:avLst/>
          </a:prstGeom>
        </p:spPr>
        <p:txBody>
          <a:bodyPr/>
          <a:lstStyle>
            <a:lvl1pPr defTabSz="676655">
              <a:defRPr sz="2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rPr dirty="0" err="1"/>
              <a:t>第一部分：金融与量化投资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196" name="Shape 19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股票</a:t>
            </a:r>
          </a:p>
        </p:txBody>
      </p:sp>
      <p:sp>
        <p:nvSpPr>
          <p:cNvPr id="197" name="Shape 197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 marL="320706" indent="-320706" defTabSz="832103">
              <a:spcBef>
                <a:spcPts val="4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股票是股份公司发给出资人的一种凭证，股票的持有者就是股份公司的股东。</a:t>
            </a:r>
          </a:p>
          <a:p>
            <a:pPr marL="320706" indent="-320706" defTabSz="832103">
              <a:spcBef>
                <a:spcPts val="400"/>
              </a:spcBef>
              <a:defRPr sz="2000"/>
            </a:pPr>
            <a:endParaRPr/>
          </a:p>
          <a:p>
            <a:pPr marL="320706" indent="-320706" defTabSz="832103">
              <a:spcBef>
                <a:spcPts val="4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股票的面值与市值</a:t>
            </a:r>
            <a:endParaRPr b="1"/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t>面值表示票面金额</a:t>
            </a:r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t>市值表示市场价值</a:t>
            </a:r>
            <a:endParaRPr b="1"/>
          </a:p>
          <a:p>
            <a:pPr marL="320706" indent="-320706" defTabSz="832103">
              <a:spcBef>
                <a:spcPts val="400"/>
              </a:spcBef>
              <a:defRPr sz="2000"/>
            </a:pPr>
            <a:endParaRPr b="1"/>
          </a:p>
          <a:p>
            <a:pPr marL="320706" indent="-320706" defTabSz="832103">
              <a:spcBef>
                <a:spcPts val="4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上市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/IPO</a:t>
            </a:r>
            <a:r>
              <a:t>：</a:t>
            </a:r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t>企业通过证券交易所公开向社会增发股票以募集资金</a:t>
            </a:r>
          </a:p>
          <a:p>
            <a:pPr marL="320706" indent="-320706" defTabSz="832103">
              <a:spcBef>
                <a:spcPts val="400"/>
              </a:spcBef>
              <a:defRPr sz="2000"/>
            </a:pPr>
            <a:endParaRPr/>
          </a:p>
          <a:p>
            <a:pPr marL="320706" indent="-320706" defTabSz="832103">
              <a:spcBef>
                <a:spcPts val="4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t>股票的作用：</a:t>
            </a:r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t>出资证明、证明股东身份、对公司经营发表意见</a:t>
            </a:r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t>公司分红、交易获利</a:t>
            </a:r>
          </a:p>
        </p:txBody>
      </p:sp>
      <p:sp>
        <p:nvSpPr>
          <p:cNvPr id="198" name="Shape 198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199" name="Shape 199"/>
          <p:cNvSpPr>
            <a:spLocks noGrp="1"/>
          </p:cNvSpPr>
          <p:nvPr>
            <p:ph type="sldNum" sz="quarter" idx="4294967295"/>
          </p:nvPr>
        </p:nvSpPr>
        <p:spPr>
          <a:xfrm>
            <a:off x="8357593" y="6453189"/>
            <a:ext cx="176805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02" name="Shape 20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股票的分类</a:t>
            </a:r>
          </a:p>
        </p:txBody>
      </p:sp>
      <p:sp>
        <p:nvSpPr>
          <p:cNvPr id="203" name="Shape 203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股票按业绩分类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蓝筹股：资本雄厚、信誉优良的公司的股票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绩优股：业绩优良公司的股票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ST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股：特别处理股票，连续两年亏损或每股净资产低于股票面值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股票按上市地区分类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A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股：中国大陆上市，人民币认购买卖（</a:t>
            </a:r>
            <a:r>
              <a:rPr dirty="0"/>
              <a:t>T+1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，涨跌幅</a:t>
            </a:r>
            <a:r>
              <a:rPr dirty="0"/>
              <a:t>10%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）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B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股：中国大陆上市，外币认购买卖（</a:t>
            </a:r>
            <a:r>
              <a:rPr dirty="0"/>
              <a:t>T+1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，</a:t>
            </a:r>
            <a:r>
              <a:rPr dirty="0"/>
              <a:t>T+3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）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H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股：中国香港上市（</a:t>
            </a:r>
            <a:r>
              <a:rPr dirty="0"/>
              <a:t>T+0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，涨跌幅不设限制）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N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股：美国纽约上市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股：新加坡上市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05" name="Shape 205"/>
          <p:cNvSpPr>
            <a:spLocks noGrp="1"/>
          </p:cNvSpPr>
          <p:nvPr>
            <p:ph type="sldNum" sz="quarter" idx="4294967295"/>
          </p:nvPr>
        </p:nvSpPr>
        <p:spPr>
          <a:xfrm>
            <a:off x="8357593" y="6453189"/>
            <a:ext cx="176805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08" name="Shape 2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股票市场的构成</a:t>
            </a:r>
          </a:p>
        </p:txBody>
      </p:sp>
      <p:sp>
        <p:nvSpPr>
          <p:cNvPr id="209" name="Shape 209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上市公司</a:t>
            </a:r>
            <a:endParaRPr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投资者（包括机构投资者</a:t>
            </a:r>
            <a:r>
              <a:rPr dirty="0"/>
              <a:t>）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证监会、证券业协会、交易所</a:t>
            </a:r>
            <a:endParaRPr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证券中介机构</a:t>
            </a:r>
            <a:endParaRPr dirty="0"/>
          </a:p>
          <a:p>
            <a:endParaRPr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交易所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上海证券交易所：只有一个主板（沪指</a:t>
            </a:r>
            <a:r>
              <a:rPr dirty="0"/>
              <a:t>）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深圳证券交易所</a:t>
            </a:r>
            <a:r>
              <a:rPr dirty="0"/>
              <a:t>：</a:t>
            </a:r>
          </a:p>
          <a:p>
            <a:pPr marL="978694" lvl="2" indent="-296466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主板：大型成熟企业（深成指</a:t>
            </a:r>
            <a:r>
              <a:rPr dirty="0"/>
              <a:t>）</a:t>
            </a:r>
          </a:p>
          <a:p>
            <a:pPr marL="978694" lvl="2" indent="-296466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中小板：经营规模较小</a:t>
            </a:r>
            <a:endParaRPr dirty="0"/>
          </a:p>
          <a:p>
            <a:pPr marL="978694" lvl="2" indent="-296466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创业板：尚处于成长期的创业企业</a:t>
            </a:r>
            <a:endParaRPr dirty="0"/>
          </a:p>
        </p:txBody>
      </p:sp>
      <p:sp>
        <p:nvSpPr>
          <p:cNvPr id="210" name="Shape 210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11" name="Shape 211"/>
          <p:cNvSpPr>
            <a:spLocks noGrp="1"/>
          </p:cNvSpPr>
          <p:nvPr>
            <p:ph type="sldNum" sz="quarter" idx="4294967295"/>
          </p:nvPr>
        </p:nvSpPr>
        <p:spPr>
          <a:xfrm>
            <a:off x="8357593" y="6453189"/>
            <a:ext cx="176805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14" name="Shape 21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影响股价的因素</a:t>
            </a:r>
          </a:p>
        </p:txBody>
      </p:sp>
      <p:sp>
        <p:nvSpPr>
          <p:cNvPr id="215" name="Shape 215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 marL="327754" indent="-327754" defTabSz="850391">
              <a:spcBef>
                <a:spcPts val="400"/>
              </a:spcBef>
              <a:defRPr sz="180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公司自身因素：股票自身价值是决定股价最基本的因素，而这主要取决于发行公司的经营业绩、资信水平以及连带而来的股息红利派发状况、发展前景、股票预期收益水平等。</a:t>
            </a:r>
          </a:p>
          <a:p>
            <a:pPr marL="327754" indent="-327754" defTabSz="850391">
              <a:spcBef>
                <a:spcPts val="400"/>
              </a:spcBef>
              <a:defRPr sz="180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行业因素：行业在国民经济中地位的变更，行业的发展前景和发展潜力，新兴行业引来的冲击等，以及上市公司在行业中所处的位置，经营业绩，经营状况，资金组合的改变及领导层人事变动等都会影响相关股票的价格。</a:t>
            </a:r>
          </a:p>
          <a:p>
            <a:pPr marL="327754" indent="-327754" defTabSz="850391">
              <a:spcBef>
                <a:spcPts val="400"/>
              </a:spcBef>
              <a:defRPr sz="180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市场因素：投资者的动向，大户的意向和操纵，公司间的合作或相互持股，信用交易和期货交易的增减，投机者的套利行为，公司的增资方式和增资额度等，均可能对股价形成较大影响。</a:t>
            </a:r>
          </a:p>
          <a:p>
            <a:pPr marL="327754" indent="-327754" defTabSz="850391">
              <a:spcBef>
                <a:spcPts val="400"/>
              </a:spcBef>
              <a:defRPr sz="18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心理因素：情绪波动，判断失误，盲目追随大户、狂抛抢购</a:t>
            </a:r>
            <a:endParaRPr dirty="0"/>
          </a:p>
          <a:p>
            <a:pPr marL="327754" indent="-327754" defTabSz="850391">
              <a:spcBef>
                <a:spcPts val="400"/>
              </a:spcBef>
              <a:defRPr sz="18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经济因素：经济周期，国家的财政状况，金融环境，国际收支状况，行业经济地位的变化，国家汇率的调整等</a:t>
            </a:r>
            <a:endParaRPr dirty="0"/>
          </a:p>
          <a:p>
            <a:pPr marL="327754" indent="-327754" defTabSz="850391">
              <a:spcBef>
                <a:spcPts val="400"/>
              </a:spcBef>
              <a:defRPr sz="18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政治因素</a:t>
            </a:r>
            <a:endParaRPr dirty="0"/>
          </a:p>
        </p:txBody>
      </p:sp>
      <p:sp>
        <p:nvSpPr>
          <p:cNvPr id="216" name="Shape 216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4294967295"/>
          </p:nvPr>
        </p:nvSpPr>
        <p:spPr>
          <a:xfrm>
            <a:off x="8357593" y="6453189"/>
            <a:ext cx="176805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20" name="Shape 2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股票买卖（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t>股）</a:t>
            </a:r>
          </a:p>
        </p:txBody>
      </p:sp>
      <p:sp>
        <p:nvSpPr>
          <p:cNvPr id="221" name="Shape 221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委托买卖股票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个人不能直接买卖，需要在券商开户，进行委托购买</a:t>
            </a:r>
            <a:endParaRPr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股票交易日：周一到周五（非法定节假日和交易所休市日</a:t>
            </a:r>
            <a:r>
              <a:rPr dirty="0"/>
              <a:t>）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股票交易时间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9:15-9:25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开盘集合竞价时间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9:30-11:30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前市，连续竞价时间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13:00-15:00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后市，连续竞价时间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14:57-15:00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深交所收盘集合竞价时间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r>
              <a:rPr dirty="0"/>
              <a:t>T+1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交易制度：股票买入后当天不能卖出，要在买入后的下一个交易日才能卖出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涨停、跌停限制</a:t>
            </a:r>
            <a:endParaRPr dirty="0"/>
          </a:p>
        </p:txBody>
      </p:sp>
      <p:sp>
        <p:nvSpPr>
          <p:cNvPr id="222" name="Shape 222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23" name="Shape 223"/>
          <p:cNvSpPr>
            <a:spLocks noGrp="1"/>
          </p:cNvSpPr>
          <p:nvPr>
            <p:ph type="sldNum" sz="quarter" idx="4294967295"/>
          </p:nvPr>
        </p:nvSpPr>
        <p:spPr>
          <a:xfrm>
            <a:off x="8357593" y="6453189"/>
            <a:ext cx="176805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26" name="Shape 22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金融分析</a:t>
            </a:r>
          </a:p>
        </p:txBody>
      </p:sp>
      <p:sp>
        <p:nvSpPr>
          <p:cNvPr id="227" name="Shape 227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基本面分析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宏观经济面分析：国家的财政政策、货币政策等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行业分析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公司分析：财务数据、业绩报告等</a:t>
            </a:r>
            <a:endParaRPr dirty="0"/>
          </a:p>
          <a:p>
            <a:endParaRPr sz="1900"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技术面分析：各项技术指标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K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线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MA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（均线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）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KDJ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（随机指标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）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MACD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（指数平滑移动平均线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）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……</a:t>
            </a:r>
          </a:p>
        </p:txBody>
      </p:sp>
      <p:sp>
        <p:nvSpPr>
          <p:cNvPr id="228" name="Shape 228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29" name="Shape 229"/>
          <p:cNvSpPr>
            <a:spLocks noGrp="1"/>
          </p:cNvSpPr>
          <p:nvPr>
            <p:ph type="sldNum" sz="quarter" idx="4294967295"/>
          </p:nvPr>
        </p:nvSpPr>
        <p:spPr>
          <a:xfrm>
            <a:off x="8357593" y="6453189"/>
            <a:ext cx="176805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32" name="Shape 23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线</a:t>
            </a:r>
          </a:p>
        </p:txBody>
      </p:sp>
      <p:pic>
        <p:nvPicPr>
          <p:cNvPr id="233" name="image1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5712" y="1063269"/>
            <a:ext cx="6623051" cy="4967291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Shape 234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35" name="Shape 235"/>
          <p:cNvSpPr>
            <a:spLocks noGrp="1"/>
          </p:cNvSpPr>
          <p:nvPr>
            <p:ph type="sldNum" sz="quarter" idx="4294967295"/>
          </p:nvPr>
        </p:nvSpPr>
        <p:spPr>
          <a:xfrm>
            <a:off x="8357593" y="6453189"/>
            <a:ext cx="176805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38" name="Shape 23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金融量化投资</a:t>
            </a:r>
          </a:p>
        </p:txBody>
      </p:sp>
      <p:sp>
        <p:nvSpPr>
          <p:cNvPr id="239" name="Shape 239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量化投资：利用计算机技术并且采用一定的数学模型去实践投资理念，实现投资策略的过程</a:t>
            </a:r>
            <a:r>
              <a:rPr dirty="0"/>
              <a:t>。</a:t>
            </a:r>
            <a:endParaRPr b="1"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量化投资的优势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避免主观情绪、人性弱点和认知偏差，选择更加客观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能同时包括多角度的观察和多层次的模型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及时跟踪市场变化，不断发现新的统计模型，寻找交易机会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在决定投资策略后，能通过回测验证其效果</a:t>
            </a:r>
            <a:endParaRPr dirty="0"/>
          </a:p>
        </p:txBody>
      </p:sp>
      <p:sp>
        <p:nvSpPr>
          <p:cNvPr id="240" name="Shape 240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41" name="Shape 241"/>
          <p:cNvSpPr>
            <a:spLocks noGrp="1"/>
          </p:cNvSpPr>
          <p:nvPr>
            <p:ph type="sldNum" sz="quarter" idx="4294967295"/>
          </p:nvPr>
        </p:nvSpPr>
        <p:spPr>
          <a:xfrm>
            <a:off x="8357593" y="6453189"/>
            <a:ext cx="176805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44" name="Shape 24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量化策略</a:t>
            </a:r>
          </a:p>
        </p:txBody>
      </p:sp>
      <p:sp>
        <p:nvSpPr>
          <p:cNvPr id="245" name="Shape 245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 marL="320706" indent="-320706" defTabSz="832103">
              <a:spcBef>
                <a:spcPts val="4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量化策略：通过一套固定的逻辑来分析、判断和决策，自动化地进行股票交易</a:t>
            </a:r>
            <a:r>
              <a:rPr dirty="0"/>
              <a:t>。</a:t>
            </a:r>
          </a:p>
          <a:p>
            <a:pPr marL="320706" indent="-320706" defTabSz="832103">
              <a:spcBef>
                <a:spcPts val="4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核心内容</a:t>
            </a:r>
            <a:endParaRPr dirty="0"/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选股</a:t>
            </a:r>
            <a:endParaRPr dirty="0"/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择时</a:t>
            </a:r>
            <a:endParaRPr dirty="0"/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仓位管理</a:t>
            </a:r>
            <a:endParaRPr dirty="0"/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止盈止损</a:t>
            </a:r>
            <a:endParaRPr dirty="0"/>
          </a:p>
          <a:p>
            <a:pPr marL="320706" indent="-320706" defTabSz="832103">
              <a:spcBef>
                <a:spcPts val="400"/>
              </a:spcBef>
              <a:defRPr sz="20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策略的周期</a:t>
            </a:r>
            <a:endParaRPr dirty="0"/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产生想法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dirty="0" err="1"/>
              <a:t>学习知识</a:t>
            </a:r>
            <a:endParaRPr dirty="0"/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实现策略：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Python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检验策略：回测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dirty="0" err="1"/>
              <a:t>模拟交易</a:t>
            </a:r>
            <a:endParaRPr dirty="0"/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实盘交易</a:t>
            </a:r>
            <a:endParaRPr dirty="0"/>
          </a:p>
          <a:p>
            <a:pPr marL="619744" lvl="1" indent="-297954" defTabSz="832103">
              <a:spcBef>
                <a:spcPts val="400"/>
              </a:spcBef>
              <a:defRPr sz="17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优化策略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dirty="0" err="1"/>
              <a:t>放弃策略</a:t>
            </a:r>
            <a:endParaRPr dirty="0"/>
          </a:p>
        </p:txBody>
      </p:sp>
      <p:sp>
        <p:nvSpPr>
          <p:cNvPr id="246" name="Shape 246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47" name="Shape 247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pic>
        <p:nvPicPr>
          <p:cNvPr id="248" name="image2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75832" y="1511583"/>
            <a:ext cx="4554733" cy="46526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>
            <a:spLocks noGrp="1"/>
          </p:cNvSpPr>
          <p:nvPr>
            <p:ph type="title"/>
          </p:nvPr>
        </p:nvSpPr>
        <p:spPr>
          <a:xfrm>
            <a:off x="684213" y="3071815"/>
            <a:ext cx="7773986" cy="603252"/>
          </a:xfrm>
          <a:prstGeom prst="rect">
            <a:avLst/>
          </a:prstGeom>
        </p:spPr>
        <p:txBody>
          <a:bodyPr/>
          <a:lstStyle/>
          <a:p>
            <a:pPr defTabSz="676655">
              <a:defRPr sz="2900">
                <a:latin typeface="宋体"/>
                <a:ea typeface="宋体"/>
                <a:cs typeface="宋体"/>
                <a:sym typeface="宋体"/>
              </a:defRPr>
            </a:pPr>
            <a:r>
              <a:t>第二部分：量化投资与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Python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53" name="Shape 25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量化投资与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Python</a:t>
            </a:r>
          </a:p>
        </p:txBody>
      </p:sp>
      <p:sp>
        <p:nvSpPr>
          <p:cNvPr id="254" name="Shape 254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为什么选择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Python?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其他选择：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Excel</a:t>
            </a:r>
            <a:r>
              <a:t>、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SAS/SPSS</a:t>
            </a:r>
            <a:r>
              <a:t>、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R</a:t>
            </a:r>
          </a:p>
          <a:p>
            <a:pPr marL="681037" lvl="1" indent="-327421">
              <a:spcBef>
                <a:spcPts val="400"/>
              </a:spcBef>
              <a:defRPr sz="1900"/>
            </a:pPr>
            <a:endParaRPr>
              <a:latin typeface="Verdana"/>
              <a:ea typeface="Verdana"/>
              <a:cs typeface="Verdana"/>
              <a:sym typeface="Verdana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量化投资第三方相关模块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：数值计算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：数据分析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Matplotlib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：图标绘制</a:t>
            </a:r>
          </a:p>
          <a:p>
            <a:pPr marL="681037" lvl="1" indent="-327421">
              <a:spcBef>
                <a:spcPts val="400"/>
              </a:spcBef>
              <a:defRPr sz="1900"/>
            </a:pPr>
            <a:endParaRPr>
              <a:latin typeface="宋体"/>
              <a:ea typeface="宋体"/>
              <a:cs typeface="宋体"/>
              <a:sym typeface="宋体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如何使用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Python</a:t>
            </a:r>
            <a:r>
              <a:t>进行量化投资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自己编写：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NumPy+pandas+Matplotlib+……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在线平台：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聚宽</a:t>
            </a:r>
            <a:r>
              <a:t>、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优矿</a:t>
            </a:r>
            <a:r>
              <a:t>、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米筐</a:t>
            </a:r>
            <a:r>
              <a:t>、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Verdana"/>
                <a:ea typeface="Verdana"/>
                <a:cs typeface="Verdana"/>
                <a:sym typeface="Verdana"/>
                <a:hlinkClick r:id="rId5"/>
              </a:rPr>
              <a:t>Quantopian</a:t>
            </a:r>
            <a:r>
              <a:t>、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……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开源框架：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Verdana"/>
                <a:ea typeface="Verdana"/>
                <a:cs typeface="Verdana"/>
                <a:sym typeface="Verdana"/>
                <a:hlinkClick r:id="rId6"/>
              </a:rPr>
              <a:t>RQAlpha</a:t>
            </a:r>
            <a:r>
              <a:t>、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Verdana"/>
                <a:ea typeface="Verdana"/>
                <a:cs typeface="Verdana"/>
                <a:sym typeface="Verdana"/>
                <a:hlinkClick r:id="rId7"/>
              </a:rPr>
              <a:t>QUANTAXIS</a:t>
            </a:r>
            <a:r>
              <a:t>、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……</a:t>
            </a:r>
          </a:p>
        </p:txBody>
      </p:sp>
      <p:sp>
        <p:nvSpPr>
          <p:cNvPr id="255" name="Shape 255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56" name="Shape 256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59" name="Shape 25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IPython: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交互式的</a:t>
            </a:r>
            <a:r>
              <a:t>Python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命令行</a:t>
            </a:r>
          </a:p>
        </p:txBody>
      </p:sp>
      <p:sp>
        <p:nvSpPr>
          <p:cNvPr id="260" name="Shape 260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t>IPython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：安装：</a:t>
            </a:r>
            <a:r>
              <a:t>pip install ipython</a:t>
            </a:r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r>
              <a:t>TAB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键自动完成</a:t>
            </a:r>
          </a:p>
          <a:p>
            <a:pPr>
              <a:lnSpc>
                <a:spcPct val="90000"/>
              </a:lnSpc>
            </a:pPr>
            <a:r>
              <a:t>?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命令（内省、命名空间搜索）</a:t>
            </a:r>
          </a:p>
          <a:p>
            <a:pPr>
              <a:lnSpc>
                <a:spcPct val="90000"/>
              </a:lnSpc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执行系统命令（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!</a:t>
            </a:r>
            <a:r>
              <a:t>）</a:t>
            </a:r>
          </a:p>
          <a:p>
            <a:pPr>
              <a:lnSpc>
                <a:spcPct val="90000"/>
              </a:lnSpc>
            </a:pPr>
            <a:r>
              <a:t>%run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命令执行文件代码</a:t>
            </a:r>
          </a:p>
          <a:p>
            <a:pPr>
              <a:lnSpc>
                <a:spcPct val="90000"/>
              </a:lnSpc>
            </a:pPr>
            <a:r>
              <a:t>%paste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命令执行剪贴板代码</a:t>
            </a:r>
          </a:p>
          <a:p>
            <a:pPr>
              <a:lnSpc>
                <a:spcPct val="90000"/>
              </a:lnSpc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与编辑器和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IDE</a:t>
            </a:r>
            <a:r>
              <a:t>交互</a:t>
            </a:r>
          </a:p>
          <a:p>
            <a:pPr>
              <a:lnSpc>
                <a:spcPct val="90000"/>
              </a:lnSpc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魔术命令：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%timeit …</a:t>
            </a:r>
          </a:p>
          <a:p>
            <a:pPr>
              <a:lnSpc>
                <a:spcPct val="90000"/>
              </a:lnSpc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使用命令历史</a:t>
            </a:r>
          </a:p>
          <a:p>
            <a:pPr>
              <a:lnSpc>
                <a:spcPct val="90000"/>
              </a:lnSpc>
            </a:pPr>
            <a:r>
              <a:t>Ipython Notebook</a:t>
            </a:r>
          </a:p>
        </p:txBody>
      </p:sp>
      <p:sp>
        <p:nvSpPr>
          <p:cNvPr id="261" name="Shape 261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62" name="Shape 262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pic>
        <p:nvPicPr>
          <p:cNvPr id="265" name="imag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841" y="2770315"/>
            <a:ext cx="6630298" cy="3268151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Shape 2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Ipython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常用的魔术命令</a:t>
            </a:r>
          </a:p>
        </p:txBody>
      </p:sp>
      <p:pic>
        <p:nvPicPr>
          <p:cNvPr id="267" name="image3.png"/>
          <p:cNvPicPr>
            <a:picLocks noChangeAspect="1"/>
          </p:cNvPicPr>
          <p:nvPr/>
        </p:nvPicPr>
        <p:blipFill>
          <a:blip r:embed="rId3">
            <a:extLst/>
          </a:blip>
          <a:srcRect r="142"/>
          <a:stretch>
            <a:fillRect/>
          </a:stretch>
        </p:blipFill>
        <p:spPr>
          <a:xfrm>
            <a:off x="609598" y="1042008"/>
            <a:ext cx="6619543" cy="2038014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Shape 268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69" name="Shape 269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pic>
        <p:nvPicPr>
          <p:cNvPr id="272" name="image4.png"/>
          <p:cNvPicPr>
            <a:picLocks noChangeAspect="1"/>
          </p:cNvPicPr>
          <p:nvPr/>
        </p:nvPicPr>
        <p:blipFill>
          <a:blip r:embed="rId2">
            <a:extLst/>
          </a:blip>
          <a:srcRect r="1175"/>
          <a:stretch>
            <a:fillRect/>
          </a:stretch>
        </p:blipFill>
        <p:spPr>
          <a:xfrm>
            <a:off x="585434" y="2365381"/>
            <a:ext cx="7990242" cy="3980559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Shape 27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Python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调试器命令</a:t>
            </a:r>
          </a:p>
        </p:txBody>
      </p:sp>
      <p:pic>
        <p:nvPicPr>
          <p:cNvPr id="274" name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4675" y="1345329"/>
            <a:ext cx="8001000" cy="1434061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Shape 275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76" name="Shape 276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79" name="Shape 27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Ipython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快捷键</a:t>
            </a:r>
          </a:p>
        </p:txBody>
      </p:sp>
      <p:pic>
        <p:nvPicPr>
          <p:cNvPr id="280" name="image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6737" y="1219617"/>
            <a:ext cx="8001001" cy="4633079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Shape 281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82" name="Shape 282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85" name="Shape 28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：数组计算</a:t>
            </a:r>
          </a:p>
        </p:txBody>
      </p:sp>
      <p:sp>
        <p:nvSpPr>
          <p:cNvPr id="286" name="Shape 286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NumPy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是高性能科学计算和数据分析的基础包。它是</a:t>
            </a:r>
            <a:r>
              <a:rPr dirty="0" err="1"/>
              <a:t>pandas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等其他各种工具的基础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r>
              <a:rPr dirty="0" err="1"/>
              <a:t>NumPy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的主要功能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ndarray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，一个多维数组结构，高效且节省空间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无需循环对整组数据进行运算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*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读写磁盘数据的工具以及用于操作内存映射文件的工具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*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线性代数、随机数生成和傅里叶变换功能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*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用于集成</a:t>
            </a:r>
            <a:r>
              <a:rPr dirty="0" err="1"/>
              <a:t>C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、</a:t>
            </a:r>
            <a:r>
              <a:rPr dirty="0" err="1"/>
              <a:t>C</a:t>
            </a:r>
            <a:r>
              <a:rPr dirty="0"/>
              <a:t>++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等代码的工具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安装方法：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pip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 install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numpy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引用方式：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import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numpy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 as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np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7" name="Shape 287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88" name="Shape 288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91" name="Shape 29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ndarray-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多维数组对象</a:t>
            </a:r>
          </a:p>
        </p:txBody>
      </p:sp>
      <p:sp>
        <p:nvSpPr>
          <p:cNvPr id="292" name="Shape 292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创建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ndarray</a:t>
            </a:r>
            <a:r>
              <a:rPr dirty="0" err="1"/>
              <a:t>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np.array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为什么要使用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ndarray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例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dirty="0"/>
              <a:t>：已知若干家跨国公司的市值（美元），</a:t>
            </a:r>
            <a:r>
              <a:rPr dirty="0" err="1"/>
              <a:t>将其换算为人民币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例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dirty="0"/>
              <a:t>：已知购物车中每件商品的价格与商品件数，求总金额</a:t>
            </a:r>
          </a:p>
          <a:p>
            <a:r>
              <a:rPr dirty="0" err="1"/>
              <a:t>ndarray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还可以是多维数组，但元素类型必须相同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常用属性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T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数组的转置（对高维数组而言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）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dtype</a:t>
            </a:r>
            <a:r>
              <a:rPr dirty="0"/>
              <a:t>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数组元素的数据类型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size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数组元素的个数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ndim</a:t>
            </a:r>
            <a:r>
              <a:rPr dirty="0"/>
              <a:t>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数组的维数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shape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数组的维度大小（以元组形式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）</a:t>
            </a:r>
          </a:p>
        </p:txBody>
      </p:sp>
      <p:sp>
        <p:nvSpPr>
          <p:cNvPr id="293" name="Shape 293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294" name="Shape 294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297" name="Shape 29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ndarray-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多维数组对象</a:t>
            </a:r>
          </a:p>
        </p:txBody>
      </p:sp>
      <p:sp>
        <p:nvSpPr>
          <p:cNvPr id="298" name="Shape 298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dtype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bool</a:t>
            </a:r>
            <a:r>
              <a:rPr dirty="0"/>
              <a:t>_, </a:t>
            </a:r>
            <a:r>
              <a:rPr dirty="0" err="1"/>
              <a:t>int</a:t>
            </a:r>
            <a:r>
              <a:rPr dirty="0"/>
              <a:t>(8,16,32,64), float(16,32,64)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类型转换：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astype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创建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ndarray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array()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将列表转换为数组，可选择显式指定</a:t>
            </a:r>
            <a:r>
              <a:rPr dirty="0" err="1"/>
              <a:t>dtype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arange</a:t>
            </a:r>
            <a:r>
              <a:rPr dirty="0"/>
              <a:t>()		</a:t>
            </a:r>
            <a:r>
              <a:rPr dirty="0" err="1"/>
              <a:t>range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的</a:t>
            </a:r>
            <a:r>
              <a:rPr dirty="0" err="1"/>
              <a:t>numpy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版，支持浮点数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linspace</a:t>
            </a:r>
            <a:r>
              <a:rPr dirty="0"/>
              <a:t>()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类似</a:t>
            </a:r>
            <a:r>
              <a:rPr dirty="0" err="1"/>
              <a:t>arange</a:t>
            </a:r>
            <a:r>
              <a:rPr dirty="0"/>
              <a:t>()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，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第三个参数为数组长度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zeros()		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根据指定形状和</a:t>
            </a:r>
            <a:r>
              <a:rPr dirty="0"/>
              <a:t>dtype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创建全</a:t>
            </a:r>
            <a:r>
              <a:rPr dirty="0"/>
              <a:t>0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数组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ones()		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根据指定形状和</a:t>
            </a:r>
            <a:r>
              <a:rPr dirty="0"/>
              <a:t>dtype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创建全</a:t>
            </a:r>
            <a:r>
              <a:rPr dirty="0"/>
              <a:t>1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数组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reshape()</a:t>
            </a:r>
          </a:p>
        </p:txBody>
      </p:sp>
      <p:sp>
        <p:nvSpPr>
          <p:cNvPr id="299" name="Shape 299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00" name="Shape 300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03" name="Shape 3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：索引和切片</a:t>
            </a:r>
          </a:p>
        </p:txBody>
      </p:sp>
      <p:sp>
        <p:nvSpPr>
          <p:cNvPr id="304" name="Shape 304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5240713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数组和标量之间的运算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a+1	a*3	1//a	a**0.5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同样大小数组之间的运算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a+b</a:t>
            </a:r>
            <a:r>
              <a:rPr dirty="0"/>
              <a:t>	a/b	a**b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数组的索引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a[5]	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a2[2][3]		</a:t>
            </a:r>
            <a:r>
              <a:rPr b="1" dirty="0"/>
              <a:t>a2[2,3]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数组的切片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a[5:8]		</a:t>
            </a:r>
            <a:r>
              <a:rPr b="1" dirty="0"/>
              <a:t>a[:3]</a:t>
            </a:r>
          </a:p>
          <a:p>
            <a:pPr marL="681037" lvl="1" indent="-327421">
              <a:spcBef>
                <a:spcPts val="400"/>
              </a:spcBef>
              <a:defRPr sz="1900" b="1"/>
            </a:pPr>
            <a:r>
              <a:rPr dirty="0"/>
              <a:t>a2[1:2, :4]</a:t>
            </a:r>
            <a:r>
              <a:rPr b="0" dirty="0"/>
              <a:t>	</a:t>
            </a:r>
            <a:r>
              <a:rPr dirty="0"/>
              <a:t>a2[:,:1]	a2[:,1]</a:t>
            </a:r>
          </a:p>
        </p:txBody>
      </p:sp>
      <p:sp>
        <p:nvSpPr>
          <p:cNvPr id="305" name="Shape 305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06" name="Shape 306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09" name="Shape 30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：布尔型索引</a:t>
            </a:r>
          </a:p>
        </p:txBody>
      </p:sp>
      <p:sp>
        <p:nvSpPr>
          <p:cNvPr id="310" name="Shape 310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问题：给一个数组，选出数组中所有大于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5</a:t>
            </a:r>
            <a:r>
              <a:rPr dirty="0"/>
              <a:t>的数。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答案：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[a&gt;5]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原理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a&gt;5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会对</a:t>
            </a:r>
            <a:r>
              <a:rPr dirty="0"/>
              <a:t>a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中的每一个元素进行判断，返回一个布尔数组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布尔型索引：将同样大小的布尔数组传进索引，会返回一个由所有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True</a:t>
            </a:r>
            <a:r>
              <a:rPr dirty="0" err="1"/>
              <a:t>对应位置的元素的数组</a:t>
            </a:r>
            <a:endParaRPr b="1" dirty="0"/>
          </a:p>
          <a:p>
            <a:pPr marL="681037" lvl="1" indent="-327421">
              <a:spcBef>
                <a:spcPts val="400"/>
              </a:spcBef>
              <a:defRPr sz="1900"/>
            </a:pPr>
            <a:endParaRPr b="1"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问题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dirty="0"/>
              <a:t>：给一个数组，选出数组中所有大于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5</a:t>
            </a:r>
            <a:r>
              <a:rPr dirty="0"/>
              <a:t>的偶数。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问题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dirty="0"/>
              <a:t>：给一个数组，选出数组中所有大于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5</a:t>
            </a:r>
            <a:r>
              <a:rPr dirty="0"/>
              <a:t>的数和偶数。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答案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a[(a&gt;5) &amp; (a%2==0)]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a[(a&gt;5) | (a%2==0)]</a:t>
            </a:r>
          </a:p>
        </p:txBody>
      </p:sp>
      <p:sp>
        <p:nvSpPr>
          <p:cNvPr id="311" name="Shape 311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12" name="Shape 312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" grpId="1" build="p" bldLvl="5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15" name="Shape 31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：花式索引</a:t>
            </a:r>
            <a:r>
              <a:t>*</a:t>
            </a:r>
          </a:p>
        </p:txBody>
      </p:sp>
      <p:sp>
        <p:nvSpPr>
          <p:cNvPr id="316" name="Shape 316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问题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dirty="0"/>
              <a:t>：对于一个数组，选出其第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dirty="0"/>
              <a:t>，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dirty="0"/>
              <a:t>，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dirty="0"/>
              <a:t>，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dirty="0"/>
              <a:t>，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dirty="0"/>
              <a:t>个元素，组成新的二维数组。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答案：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[[1,3,4,6,7]]</a:t>
            </a:r>
          </a:p>
          <a:p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问题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dirty="0"/>
              <a:t>：对一个二维数组，选出其第一列和第三列答案：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a[:,[1,3]]</a:t>
            </a:r>
          </a:p>
        </p:txBody>
      </p:sp>
      <p:sp>
        <p:nvSpPr>
          <p:cNvPr id="317" name="Shape 317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18" name="Shape 318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" grpId="1" build="p" bldLvl="5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21" name="Shape 3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：通用函数</a:t>
            </a:r>
          </a:p>
        </p:txBody>
      </p:sp>
      <p:sp>
        <p:nvSpPr>
          <p:cNvPr id="322" name="Shape 322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通用函数：能同时对数组中所有元素进行运算的函数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常见通用函数：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一元函数：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abs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sqrt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, exp, log,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ceil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floor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rint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 trunc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modf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isnan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isinf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, cos, sin, tan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二元函数：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add, substract, multiply, divide, power, mod, 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maximum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mininum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, </a:t>
            </a:r>
          </a:p>
        </p:txBody>
      </p:sp>
      <p:sp>
        <p:nvSpPr>
          <p:cNvPr id="323" name="Shape 323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24" name="Shape 324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27" name="Shape 32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：数学和统计方法</a:t>
            </a:r>
          </a:p>
        </p:txBody>
      </p:sp>
      <p:sp>
        <p:nvSpPr>
          <p:cNvPr id="328" name="Shape 328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常用函数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sum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求和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mean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求平均数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std</a:t>
            </a:r>
            <a:r>
              <a:rPr dirty="0"/>
              <a:t>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求标准差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var</a:t>
            </a:r>
            <a:r>
              <a:rPr dirty="0"/>
              <a:t>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求方差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min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求最小值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max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求最大值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argmin</a:t>
            </a:r>
            <a:r>
              <a:rPr dirty="0"/>
              <a:t>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求最小值索引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argmax</a:t>
            </a:r>
            <a:r>
              <a:rPr dirty="0"/>
              <a:t>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求最大值索引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>
                <a:latin typeface="宋体"/>
                <a:ea typeface="宋体"/>
                <a:cs typeface="宋体"/>
                <a:sym typeface="宋体"/>
              </a:rPr>
              <a:t>Sort             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求和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</p:txBody>
      </p:sp>
      <p:sp>
        <p:nvSpPr>
          <p:cNvPr id="329" name="Shape 329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30" name="Shape 330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33" name="Shape 33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NumPy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：随机数生成</a:t>
            </a:r>
          </a:p>
        </p:txBody>
      </p:sp>
      <p:sp>
        <p:nvSpPr>
          <p:cNvPr id="334" name="Shape 334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np.random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常用函数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rand		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给定形状产生随机数组（</a:t>
            </a:r>
            <a:r>
              <a:rPr dirty="0"/>
              <a:t>0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到</a:t>
            </a:r>
            <a:r>
              <a:rPr dirty="0"/>
              <a:t>1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之间的数）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randint</a:t>
            </a:r>
            <a:r>
              <a:rPr dirty="0"/>
              <a:t>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给定形状产生随机整数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choice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给定形状产生随机选择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shuffle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与</a:t>
            </a:r>
            <a:r>
              <a:rPr dirty="0" err="1"/>
              <a:t>random.shuffle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相同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uniform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给定形状产生随机数组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</p:txBody>
      </p:sp>
      <p:sp>
        <p:nvSpPr>
          <p:cNvPr id="335" name="Shape 335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36" name="Shape 336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39" name="Shape 33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：数据分析</a:t>
            </a:r>
          </a:p>
        </p:txBody>
      </p:sp>
      <p:sp>
        <p:nvSpPr>
          <p:cNvPr id="340" name="Shape 340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pandas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是一个强大的</a:t>
            </a:r>
            <a:r>
              <a:rPr dirty="0" err="1"/>
              <a:t>Python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数据分析的工具包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r>
              <a:rPr dirty="0" err="1"/>
              <a:t>pandas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是基于</a:t>
            </a:r>
            <a:r>
              <a:rPr dirty="0" err="1"/>
              <a:t>NumPy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构建的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r>
              <a:rPr dirty="0" err="1"/>
              <a:t>pandas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的主要功能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具备对其功能的数据结构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DataFrame</a:t>
            </a:r>
            <a:r>
              <a:rPr dirty="0" err="1"/>
              <a:t>、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Series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集成时间序列功能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提供丰富的数学运算和操作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灵活处理缺失数据</a:t>
            </a:r>
            <a:endParaRPr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安装方法：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pip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 install pandas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引用方法：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import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 pandas as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1" name="Shape 341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42" name="Shape 342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45" name="Shape 3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Series</a:t>
            </a:r>
          </a:p>
        </p:txBody>
      </p:sp>
      <p:sp>
        <p:nvSpPr>
          <p:cNvPr id="346" name="Shape 346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Series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是一种类似于一维数组的对象，由一组数据和一组与之相关的数据标签（索引）组成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Series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比较像列表（数组）和字典的结合体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创建方式：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pd.Series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([4,7,-5,3])            			        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pd.Series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([4,7,-5,3],index=['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a','b','c','d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'])       		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pd.Series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({'a':1, 'b':2})					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pd.Series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(0, index=['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a','b','c','d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'])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获取值数组和索引数组：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values</a:t>
            </a:r>
            <a:r>
              <a:rPr dirty="0" err="1"/>
              <a:t>属性和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index</a:t>
            </a:r>
            <a:r>
              <a:rPr dirty="0" err="1"/>
              <a:t>属性</a:t>
            </a:r>
            <a:endParaRPr dirty="0"/>
          </a:p>
        </p:txBody>
      </p:sp>
      <p:sp>
        <p:nvSpPr>
          <p:cNvPr id="347" name="Shape 347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48" name="Shape 348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51" name="Shape 35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Series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特性</a:t>
            </a:r>
          </a:p>
        </p:txBody>
      </p:sp>
      <p:sp>
        <p:nvSpPr>
          <p:cNvPr id="352" name="Shape 352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Series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支持</a:t>
            </a:r>
            <a:r>
              <a:rPr dirty="0" err="1"/>
              <a:t>NumPy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模块的特性（下标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）：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从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ndarray</a:t>
            </a:r>
            <a:r>
              <a:rPr dirty="0" err="1"/>
              <a:t>创建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Series</a:t>
            </a:r>
            <a:r>
              <a:rPr dirty="0" err="1"/>
              <a:t>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Series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arr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与标量运算：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sr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*2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两个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Series</a:t>
            </a:r>
            <a:r>
              <a:rPr dirty="0"/>
              <a:t>运算：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sr1+sr2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索引：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sr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[0],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sr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[[1,2,4]]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切片：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sr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[0:2]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通用函数：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np.abs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sr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布尔值过滤：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sr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sr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&gt;0]</a:t>
            </a:r>
          </a:p>
          <a:p>
            <a:r>
              <a:rPr dirty="0" err="1"/>
              <a:t>Series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支持字典的特性（标签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）：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从字典创建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Series</a:t>
            </a:r>
            <a:r>
              <a:rPr dirty="0" err="1"/>
              <a:t>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Series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dic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), 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in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运算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rPr dirty="0"/>
              <a:t>’a’ in </a:t>
            </a:r>
            <a:r>
              <a:rPr dirty="0" err="1"/>
              <a:t>sr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键索引：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sr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['a'],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sr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[['a', 'b', 'd']]</a:t>
            </a:r>
          </a:p>
        </p:txBody>
      </p:sp>
      <p:sp>
        <p:nvSpPr>
          <p:cNvPr id="353" name="Shape 353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54" name="Shape 354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57" name="Shape 35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Series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数据对齐</a:t>
            </a:r>
          </a:p>
        </p:txBody>
      </p:sp>
      <p:sp>
        <p:nvSpPr>
          <p:cNvPr id="358" name="Shape 358"/>
          <p:cNvSpPr>
            <a:spLocks noGrp="1"/>
          </p:cNvSpPr>
          <p:nvPr>
            <p:ph type="body" idx="1"/>
          </p:nvPr>
        </p:nvSpPr>
        <p:spPr>
          <a:xfrm>
            <a:off x="566738" y="1052513"/>
            <a:ext cx="8200743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pandas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在运算时，会按索引进行对齐然后计算。如果存在不同的索引，则结果的索引是两个操作数索引的并集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例：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sr1 = </a:t>
            </a:r>
            <a:r>
              <a:rPr dirty="0" err="1"/>
              <a:t>pd.Series</a:t>
            </a:r>
            <a:r>
              <a:rPr dirty="0"/>
              <a:t>([12,23,34], index=['</a:t>
            </a:r>
            <a:r>
              <a:rPr dirty="0" err="1"/>
              <a:t>c','a','d</a:t>
            </a:r>
            <a:r>
              <a:rPr dirty="0"/>
              <a:t>'])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sr2 = </a:t>
            </a:r>
            <a:r>
              <a:rPr dirty="0" err="1"/>
              <a:t>pd.Series</a:t>
            </a:r>
            <a:r>
              <a:rPr dirty="0"/>
              <a:t>([11,20,10], index=['</a:t>
            </a:r>
            <a:r>
              <a:rPr dirty="0" err="1"/>
              <a:t>d','c','a</a:t>
            </a:r>
            <a:r>
              <a:rPr dirty="0"/>
              <a:t>',])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sr1+sr2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sr3 = </a:t>
            </a:r>
            <a:r>
              <a:rPr dirty="0" err="1"/>
              <a:t>pd.Series</a:t>
            </a:r>
            <a:r>
              <a:rPr dirty="0"/>
              <a:t>([11,20,10,14], index=['</a:t>
            </a:r>
            <a:r>
              <a:rPr dirty="0" err="1"/>
              <a:t>d','c','a','b</a:t>
            </a:r>
            <a:r>
              <a:rPr dirty="0"/>
              <a:t>'])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sr1+sr3</a:t>
            </a:r>
          </a:p>
        </p:txBody>
      </p:sp>
      <p:sp>
        <p:nvSpPr>
          <p:cNvPr id="359" name="Shape 359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60" name="Shape 360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" grpId="1" build="p" bldLvl="5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63" name="Shape 36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Series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缺失数据</a:t>
            </a:r>
          </a:p>
        </p:txBody>
      </p:sp>
      <p:sp>
        <p:nvSpPr>
          <p:cNvPr id="364" name="Shape 364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8936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缺失数据：使用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NaN</a:t>
            </a:r>
            <a:r>
              <a:rPr dirty="0" err="1"/>
              <a:t>（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Not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 a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Number</a:t>
            </a:r>
            <a:r>
              <a:rPr dirty="0" err="1"/>
              <a:t>）来表示缺失数据。其值等于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np.nan</a:t>
            </a:r>
            <a:r>
              <a:rPr dirty="0" err="1"/>
              <a:t>。内置的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None</a:t>
            </a:r>
            <a:r>
              <a:rPr dirty="0" err="1"/>
              <a:t>值也会被当做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NaN</a:t>
            </a:r>
            <a:r>
              <a:rPr dirty="0" err="1"/>
              <a:t>处理</a:t>
            </a:r>
            <a:r>
              <a:rPr dirty="0"/>
              <a:t>。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处理缺失数据的相关方法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dropna</a:t>
            </a:r>
            <a:r>
              <a:rPr dirty="0"/>
              <a:t>()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过滤掉值为</a:t>
            </a:r>
            <a:r>
              <a:rPr dirty="0" err="1"/>
              <a:t>NaN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的行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fillna</a:t>
            </a:r>
            <a:r>
              <a:rPr dirty="0"/>
              <a:t>()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填充缺失数据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isnull</a:t>
            </a:r>
            <a:r>
              <a:rPr dirty="0"/>
              <a:t>()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返回布尔数组，缺失值对应为</a:t>
            </a:r>
            <a:r>
              <a:rPr dirty="0" err="1"/>
              <a:t>True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notnull</a:t>
            </a:r>
            <a:r>
              <a:rPr dirty="0"/>
              <a:t>()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返回布尔数组，缺失值对应为</a:t>
            </a:r>
            <a:r>
              <a:rPr dirty="0" err="1"/>
              <a:t>False</a:t>
            </a:r>
            <a:endParaRPr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过滤缺失数据：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sr.dropna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</a:t>
            </a:r>
            <a:r>
              <a:rPr dirty="0"/>
              <a:t> 或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sr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data.notnull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()]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填充缺失数据：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fillna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(0)</a:t>
            </a:r>
          </a:p>
        </p:txBody>
      </p:sp>
      <p:sp>
        <p:nvSpPr>
          <p:cNvPr id="365" name="Shape 365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66" name="Shape 366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69" name="Shape 36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DataFrame</a:t>
            </a:r>
          </a:p>
        </p:txBody>
      </p:sp>
      <p:sp>
        <p:nvSpPr>
          <p:cNvPr id="370" name="Shape 370"/>
          <p:cNvSpPr>
            <a:spLocks noGrp="1"/>
          </p:cNvSpPr>
          <p:nvPr>
            <p:ph type="body" idx="1"/>
          </p:nvPr>
        </p:nvSpPr>
        <p:spPr>
          <a:xfrm>
            <a:off x="566738" y="1052513"/>
            <a:ext cx="8136198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DataFrame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是一个表格型的数据结构，含有一组有序的列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r>
              <a:rPr dirty="0" err="1"/>
              <a:t>DataFrame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可以被看做是由</a:t>
            </a:r>
            <a:r>
              <a:rPr dirty="0" err="1"/>
              <a:t>Series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组成的字典，并且共用一个索引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创建方式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pd.DataFrame</a:t>
            </a:r>
            <a:r>
              <a:rPr dirty="0"/>
              <a:t>({'one':[1,2,3,4],'two':[4,3,2,1]})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pd.DataFrame</a:t>
            </a:r>
            <a:r>
              <a:rPr dirty="0"/>
              <a:t>({'one':</a:t>
            </a:r>
            <a:r>
              <a:rPr dirty="0" err="1"/>
              <a:t>pd.Series</a:t>
            </a:r>
            <a:r>
              <a:rPr dirty="0"/>
              <a:t>([1,2,3],index=['</a:t>
            </a:r>
            <a:r>
              <a:rPr dirty="0" err="1"/>
              <a:t>a','b','c</a:t>
            </a:r>
            <a:r>
              <a:rPr dirty="0"/>
              <a:t>']), 'two':</a:t>
            </a:r>
            <a:r>
              <a:rPr dirty="0" err="1"/>
              <a:t>pd.Series</a:t>
            </a:r>
            <a:r>
              <a:rPr dirty="0"/>
              <a:t>([1,2,3,4],index=['</a:t>
            </a:r>
            <a:r>
              <a:rPr dirty="0" err="1"/>
              <a:t>b','a','c','d</a:t>
            </a:r>
            <a:r>
              <a:rPr dirty="0"/>
              <a:t>'])})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……</a:t>
            </a:r>
          </a:p>
          <a:p>
            <a:r>
              <a:rPr dirty="0" err="1"/>
              <a:t>csv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文件读取与写入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df.read_csv</a:t>
            </a:r>
            <a:r>
              <a:rPr dirty="0"/>
              <a:t>('filename.csv')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df.to_csv</a:t>
            </a:r>
            <a:r>
              <a:rPr dirty="0"/>
              <a:t>()</a:t>
            </a:r>
          </a:p>
        </p:txBody>
      </p:sp>
      <p:sp>
        <p:nvSpPr>
          <p:cNvPr id="371" name="Shape 371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72" name="Shape 372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75" name="Shape 37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DataFrame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查看数据</a:t>
            </a:r>
          </a:p>
        </p:txBody>
      </p:sp>
      <p:sp>
        <p:nvSpPr>
          <p:cNvPr id="376" name="Shape 376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查看数据常用属性及方法：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index					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获取索引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T						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转置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columns					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获取列索引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values					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获取值数组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describe()				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获取快速统计</a:t>
            </a:r>
          </a:p>
        </p:txBody>
      </p:sp>
      <p:sp>
        <p:nvSpPr>
          <p:cNvPr id="377" name="Shape 377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78" name="Shape 378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32</a:t>
            </a:fld>
            <a:endParaRPr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380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81" name="Shape 38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DataFrame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索引和切片</a:t>
            </a:r>
          </a:p>
        </p:txBody>
      </p:sp>
      <p:sp>
        <p:nvSpPr>
          <p:cNvPr id="382" name="Shape 382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DataFrame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有行索引和列索引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通过标签获取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</a:t>
            </a:r>
            <a:r>
              <a:rPr dirty="0"/>
              <a:t>['A']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</a:t>
            </a:r>
            <a:r>
              <a:rPr dirty="0"/>
              <a:t>[['A', 'B']]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</a:t>
            </a:r>
            <a:r>
              <a:rPr dirty="0"/>
              <a:t>['A'][0]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</a:t>
            </a:r>
            <a:r>
              <a:rPr dirty="0"/>
              <a:t>[0:10][['A', 'C']]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df.loc</a:t>
            </a:r>
            <a:r>
              <a:rPr dirty="0"/>
              <a:t>[:,['A','B']]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df.loc</a:t>
            </a:r>
            <a:r>
              <a:rPr dirty="0"/>
              <a:t>[:,'A':'C']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df.loc</a:t>
            </a:r>
            <a:r>
              <a:rPr dirty="0"/>
              <a:t>[0,'A']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df.loc</a:t>
            </a:r>
            <a:r>
              <a:rPr dirty="0"/>
              <a:t>[0:10,['A','C']]</a:t>
            </a:r>
          </a:p>
        </p:txBody>
      </p:sp>
      <p:sp>
        <p:nvSpPr>
          <p:cNvPr id="383" name="Shape 383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84" name="Shape 384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33</a:t>
            </a:fld>
            <a:endParaRPr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386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87" name="Shape 38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DataFrame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索引和切片</a:t>
            </a:r>
          </a:p>
        </p:txBody>
      </p:sp>
      <p:sp>
        <p:nvSpPr>
          <p:cNvPr id="388" name="Shape 388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通过位置获取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df.iloc</a:t>
            </a:r>
            <a:r>
              <a:rPr dirty="0"/>
              <a:t>[3]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df.iloc</a:t>
            </a:r>
            <a:r>
              <a:rPr dirty="0"/>
              <a:t>[3,3]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df.iloc</a:t>
            </a:r>
            <a:r>
              <a:rPr dirty="0"/>
              <a:t>[0:3,4:6]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df.iloc</a:t>
            </a:r>
            <a:r>
              <a:rPr dirty="0"/>
              <a:t>[1:5,:]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df.iloc</a:t>
            </a:r>
            <a:r>
              <a:rPr dirty="0"/>
              <a:t>[[1,2,4],[0,3]]</a:t>
            </a:r>
          </a:p>
          <a:p>
            <a:endParaRPr sz="1900"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通过布尔值过滤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</a:t>
            </a:r>
            <a:r>
              <a:rPr dirty="0"/>
              <a:t>[</a:t>
            </a:r>
            <a:r>
              <a:rPr dirty="0" err="1"/>
              <a:t>df</a:t>
            </a:r>
            <a:r>
              <a:rPr dirty="0"/>
              <a:t>['A']&gt;0]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</a:t>
            </a:r>
            <a:r>
              <a:rPr dirty="0"/>
              <a:t>[</a:t>
            </a:r>
            <a:r>
              <a:rPr dirty="0" err="1"/>
              <a:t>df</a:t>
            </a:r>
            <a:r>
              <a:rPr dirty="0"/>
              <a:t>['A'].</a:t>
            </a:r>
            <a:r>
              <a:rPr dirty="0" err="1"/>
              <a:t>isin</a:t>
            </a:r>
            <a:r>
              <a:rPr dirty="0"/>
              <a:t>([1,3,5])]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df</a:t>
            </a:r>
            <a:r>
              <a:rPr dirty="0"/>
              <a:t>[</a:t>
            </a:r>
            <a:r>
              <a:rPr dirty="0" err="1"/>
              <a:t>df</a:t>
            </a:r>
            <a:r>
              <a:rPr dirty="0"/>
              <a:t>&lt;0] = 0</a:t>
            </a:r>
          </a:p>
        </p:txBody>
      </p:sp>
      <p:sp>
        <p:nvSpPr>
          <p:cNvPr id="389" name="Shape 389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90" name="Shape 390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34</a:t>
            </a:fld>
            <a:endParaRPr/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392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93" name="Shape 39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DataFrame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数据对齐与缺失数据</a:t>
            </a:r>
          </a:p>
        </p:txBody>
      </p:sp>
      <p:sp>
        <p:nvSpPr>
          <p:cNvPr id="394" name="Shape 394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114684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DataFrame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对象在运算时，同样会进行数据对其，结果的行索引与列索引分别为两个操作数的行索引与列索引的并集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endParaRPr dirty="0">
              <a:latin typeface="宋体"/>
              <a:ea typeface="宋体"/>
              <a:cs typeface="宋体"/>
              <a:sym typeface="宋体"/>
            </a:endParaRPr>
          </a:p>
          <a:p>
            <a:r>
              <a:rPr dirty="0" err="1"/>
              <a:t>DataFrame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处理缺失数据的方法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dropna</a:t>
            </a:r>
            <a:r>
              <a:rPr dirty="0"/>
              <a:t>(axis=0,where='any',…)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fillna</a:t>
            </a:r>
            <a:r>
              <a:rPr dirty="0"/>
              <a:t>()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isnull</a:t>
            </a:r>
            <a:r>
              <a:rPr dirty="0"/>
              <a:t>()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notnull</a:t>
            </a:r>
            <a:r>
              <a:rPr dirty="0"/>
              <a:t>()</a:t>
            </a:r>
          </a:p>
        </p:txBody>
      </p:sp>
      <p:sp>
        <p:nvSpPr>
          <p:cNvPr id="395" name="Shape 395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396" name="Shape 396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35</a:t>
            </a:fld>
            <a:endParaRPr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398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399" name="Shape 39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：其他常用方法</a:t>
            </a:r>
          </a:p>
        </p:txBody>
      </p:sp>
      <p:sp>
        <p:nvSpPr>
          <p:cNvPr id="400" name="Shape 400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pandas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常用方法（适用</a:t>
            </a:r>
            <a:r>
              <a:rPr dirty="0" err="1"/>
              <a:t>Series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和</a:t>
            </a:r>
            <a:r>
              <a:rPr dirty="0" err="1"/>
              <a:t>DataFrame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）：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mean(axis=0,skipna=False)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sum(axis=1)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sort_index</a:t>
            </a:r>
            <a:r>
              <a:rPr dirty="0"/>
              <a:t>(axis, …, ascending)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按行或列索引排序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sort_values</a:t>
            </a:r>
            <a:r>
              <a:rPr dirty="0"/>
              <a:t>(by, axis, ascending)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按值排序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NumPy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的通用函数同样适用于</a:t>
            </a:r>
            <a:r>
              <a:rPr dirty="0" err="1"/>
              <a:t>pandas</a:t>
            </a:r>
            <a:endParaRPr dirty="0"/>
          </a:p>
        </p:txBody>
      </p:sp>
      <p:sp>
        <p:nvSpPr>
          <p:cNvPr id="401" name="Shape 401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02" name="Shape 402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36</a:t>
            </a:fld>
            <a:endParaRPr/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05" name="Shape 40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：从文件读取</a:t>
            </a:r>
          </a:p>
        </p:txBody>
      </p:sp>
      <p:sp>
        <p:nvSpPr>
          <p:cNvPr id="406" name="Shape 406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读取文件：从文件名、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URL</a:t>
            </a:r>
            <a:r>
              <a:rPr dirty="0" err="1"/>
              <a:t>、文件对象中加载数据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read_csv</a:t>
            </a:r>
            <a:r>
              <a:rPr dirty="0"/>
              <a:t>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默认分隔符为</a:t>
            </a:r>
            <a:r>
              <a:rPr dirty="0" err="1"/>
              <a:t>csv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read_table</a:t>
            </a:r>
            <a:r>
              <a:rPr dirty="0"/>
              <a:t>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默认分隔符为</a:t>
            </a:r>
            <a:r>
              <a:rPr dirty="0"/>
              <a:t>\t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读取文件函数主要参数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sep</a:t>
            </a:r>
            <a:r>
              <a:rPr dirty="0"/>
              <a:t>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指定分隔符，可用正则表达式如</a:t>
            </a:r>
            <a:r>
              <a:rPr dirty="0"/>
              <a:t>'\s+'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header=None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指定文件无列名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name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指定列名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index_col</a:t>
            </a:r>
            <a:r>
              <a:rPr dirty="0"/>
              <a:t>	           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指定某列作为索引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skip_row</a:t>
            </a:r>
            <a:r>
              <a:rPr dirty="0"/>
              <a:t>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指定跳过某些行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na_values</a:t>
            </a:r>
            <a:r>
              <a:rPr dirty="0"/>
              <a:t>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指定某些字符串表示缺失值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parse_dates</a:t>
            </a:r>
            <a:r>
              <a:rPr dirty="0"/>
              <a:t>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指定某些列是否被解析为日期，布尔值或列表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</p:txBody>
      </p:sp>
      <p:sp>
        <p:nvSpPr>
          <p:cNvPr id="407" name="Shape 407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08" name="Shape 408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37</a:t>
            </a:fld>
            <a:endParaRPr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11" name="Shape 41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：写入到文件</a:t>
            </a:r>
          </a:p>
        </p:txBody>
      </p:sp>
      <p:sp>
        <p:nvSpPr>
          <p:cNvPr id="412" name="Shape 412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写入到文件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to_csv</a:t>
            </a:r>
            <a:endParaRPr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写入文件函数的主要参数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sep</a:t>
            </a:r>
            <a:endParaRPr dirty="0"/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na_rep</a:t>
            </a:r>
            <a:r>
              <a:rPr dirty="0"/>
              <a:t>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指定缺失值转换的字符串，默认为空字符串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header=False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不保存列名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index=False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不保存行索引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cols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指定输出的列，传入列表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</p:txBody>
      </p:sp>
      <p:sp>
        <p:nvSpPr>
          <p:cNvPr id="413" name="Shape 413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14" name="Shape 414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38</a:t>
            </a:fld>
            <a:endParaRPr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416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17" name="Shape 41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：时间对象处理</a:t>
            </a:r>
          </a:p>
        </p:txBody>
      </p:sp>
      <p:sp>
        <p:nvSpPr>
          <p:cNvPr id="418" name="Shape 418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时间序列类型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时间戳：特定时刻</a:t>
            </a:r>
            <a:endParaRPr dirty="0"/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固定时期：如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2017</a:t>
            </a:r>
            <a:r>
              <a:rPr dirty="0"/>
              <a:t>年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dirty="0"/>
              <a:t>月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时间间隔：起始时间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dirty="0" err="1"/>
              <a:t>结束时间</a:t>
            </a:r>
            <a:endParaRPr dirty="0"/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第三方包：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dateutil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dateutil.parser.parse</a:t>
            </a:r>
            <a:r>
              <a:rPr dirty="0"/>
              <a:t>()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成组处理日期：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pandas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pd.to_datetime</a:t>
            </a:r>
            <a:r>
              <a:rPr dirty="0"/>
              <a:t>(['2001-01-01', '2002-02-02'])</a:t>
            </a:r>
          </a:p>
        </p:txBody>
      </p:sp>
      <p:sp>
        <p:nvSpPr>
          <p:cNvPr id="419" name="Shape 419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20" name="Shape 420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422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23" name="Shape 42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：时间对象处理</a:t>
            </a:r>
          </a:p>
        </p:txBody>
      </p:sp>
      <p:sp>
        <p:nvSpPr>
          <p:cNvPr id="424" name="Shape 424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产生时间对象数组：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date_range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start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开始时间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end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结束时间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periods	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时间长度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 err="1"/>
              <a:t>freq</a:t>
            </a:r>
            <a:r>
              <a:rPr dirty="0"/>
              <a:t>		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时间频率，默认为</a:t>
            </a:r>
            <a:r>
              <a:rPr dirty="0"/>
              <a:t>'D'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，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可选</a:t>
            </a:r>
            <a:r>
              <a:rPr dirty="0" err="1"/>
              <a:t>H</a:t>
            </a:r>
            <a:r>
              <a:rPr dirty="0"/>
              <a:t>(our),W(eek),B(</a:t>
            </a:r>
            <a:r>
              <a:rPr dirty="0" err="1"/>
              <a:t>usiness</a:t>
            </a:r>
            <a:r>
              <a:rPr dirty="0"/>
              <a:t>),S(</a:t>
            </a:r>
            <a:r>
              <a:rPr dirty="0" err="1"/>
              <a:t>emi</a:t>
            </a:r>
            <a:r>
              <a:rPr dirty="0"/>
              <a:t>-)M(</a:t>
            </a:r>
            <a:r>
              <a:rPr dirty="0" err="1"/>
              <a:t>onth</a:t>
            </a:r>
            <a:r>
              <a:rPr dirty="0"/>
              <a:t>),(min)T(</a:t>
            </a:r>
            <a:r>
              <a:rPr dirty="0" err="1"/>
              <a:t>es</a:t>
            </a:r>
            <a:r>
              <a:rPr dirty="0"/>
              <a:t>), S(</a:t>
            </a:r>
            <a:r>
              <a:rPr dirty="0" err="1"/>
              <a:t>econd</a:t>
            </a:r>
            <a:r>
              <a:rPr dirty="0"/>
              <a:t>), A(year),…</a:t>
            </a:r>
          </a:p>
        </p:txBody>
      </p:sp>
      <p:sp>
        <p:nvSpPr>
          <p:cNvPr id="425" name="Shape 425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26" name="Shape 426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40</a:t>
            </a:fld>
            <a:endParaRPr/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29" name="Shape 42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：时间序列</a:t>
            </a:r>
          </a:p>
        </p:txBody>
      </p:sp>
      <p:sp>
        <p:nvSpPr>
          <p:cNvPr id="430" name="Shape 430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时间序列就是以时间对象为索引的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Series</a:t>
            </a:r>
            <a:r>
              <a:t>或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DataFrame</a:t>
            </a:r>
            <a:r>
              <a:t>。</a:t>
            </a:r>
          </a:p>
          <a:p>
            <a:endParaRPr/>
          </a:p>
          <a:p>
            <a:r>
              <a:t>datetime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对象作为索引时是存储在</a:t>
            </a:r>
            <a:r>
              <a:t>DatetimeIndex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对象中的。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时间序列特殊功能：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传入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“</a:t>
            </a:r>
            <a:r>
              <a:t>年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”</a:t>
            </a:r>
            <a:r>
              <a:t>或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“</a:t>
            </a:r>
            <a:r>
              <a:t>年月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”</a:t>
            </a:r>
            <a:r>
              <a:t>作为切片方式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传入日期范围作为切片方式</a:t>
            </a:r>
          </a:p>
        </p:txBody>
      </p:sp>
      <p:sp>
        <p:nvSpPr>
          <p:cNvPr id="431" name="Shape 431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32" name="Shape 432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434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35" name="Shape 4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Matplotlib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：绘图和可视化</a:t>
            </a:r>
          </a:p>
        </p:txBody>
      </p:sp>
      <p:sp>
        <p:nvSpPr>
          <p:cNvPr id="436" name="Shape 436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Matplotlib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是一个强大的</a:t>
            </a:r>
            <a:r>
              <a:rPr dirty="0" err="1"/>
              <a:t>Python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绘图和数据可视化的工具包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安装方法：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pip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 install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matplotlib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引用方法：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import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matplotlib.pyplot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 as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plt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绘图函数：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plt.plot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显示图像：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plt.show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</a:t>
            </a:r>
          </a:p>
        </p:txBody>
      </p:sp>
      <p:sp>
        <p:nvSpPr>
          <p:cNvPr id="437" name="Shape 437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38" name="Shape 438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/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41" name="Shape 44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Matplotlib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plot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函数</a:t>
            </a:r>
          </a:p>
        </p:txBody>
      </p:sp>
      <p:sp>
        <p:nvSpPr>
          <p:cNvPr id="442" name="Shape 442"/>
          <p:cNvSpPr>
            <a:spLocks noGrp="1"/>
          </p:cNvSpPr>
          <p:nvPr>
            <p:ph type="body" idx="1"/>
          </p:nvPr>
        </p:nvSpPr>
        <p:spPr>
          <a:xfrm>
            <a:off x="566736" y="1052513"/>
            <a:ext cx="8243776" cy="496729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plot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函数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：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线型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linestyle</a:t>
            </a:r>
            <a:r>
              <a:rPr dirty="0"/>
              <a:t>（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-,-.,--,..</a:t>
            </a:r>
            <a:r>
              <a:rPr dirty="0"/>
              <a:t>）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点型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marker</a:t>
            </a:r>
            <a:r>
              <a:rPr dirty="0" err="1"/>
              <a:t>（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,^,s,*,H,+,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x,D,o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,…</a:t>
            </a:r>
            <a:r>
              <a:rPr dirty="0"/>
              <a:t>）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颜色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color</a:t>
            </a:r>
            <a:r>
              <a:rPr dirty="0" err="1"/>
              <a:t>（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b,g,r,y,k,w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,…</a:t>
            </a:r>
            <a:r>
              <a:rPr dirty="0"/>
              <a:t>）</a:t>
            </a:r>
          </a:p>
        </p:txBody>
      </p:sp>
      <p:sp>
        <p:nvSpPr>
          <p:cNvPr id="443" name="Shape 443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44" name="Shape 444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446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47" name="Shape 4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Matplotlib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图像标注</a:t>
            </a:r>
          </a:p>
        </p:txBody>
      </p:sp>
      <p:sp>
        <p:nvSpPr>
          <p:cNvPr id="448" name="Shape 448"/>
          <p:cNvSpPr>
            <a:spLocks noGrp="1"/>
          </p:cNvSpPr>
          <p:nvPr>
            <p:ph type="body" idx="1"/>
          </p:nvPr>
        </p:nvSpPr>
        <p:spPr>
          <a:xfrm>
            <a:off x="566736" y="1052513"/>
            <a:ext cx="8243776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设置图像标题</a:t>
            </a:r>
            <a:r>
              <a:rPr dirty="0"/>
              <a:t>： </a:t>
            </a:r>
            <a:r>
              <a:rPr sz="1900" dirty="0" err="1">
                <a:latin typeface="Verdana"/>
                <a:ea typeface="Verdana"/>
                <a:cs typeface="Verdana"/>
                <a:sym typeface="Verdana"/>
              </a:rPr>
              <a:t>plt.title</a:t>
            </a:r>
            <a:r>
              <a:rPr sz="1900" dirty="0">
                <a:latin typeface="Verdana"/>
                <a:ea typeface="Verdana"/>
                <a:cs typeface="Verdana"/>
                <a:sym typeface="Verdana"/>
              </a:rPr>
              <a:t>()</a:t>
            </a:r>
          </a:p>
          <a:p>
            <a:r>
              <a:rPr dirty="0" err="1"/>
              <a:t>设置x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轴名称：</a:t>
            </a:r>
            <a:r>
              <a:rPr dirty="0" err="1"/>
              <a:t>plt.xlabel</a:t>
            </a:r>
            <a:r>
              <a:rPr dirty="0"/>
              <a:t>()</a:t>
            </a:r>
          </a:p>
          <a:p>
            <a:r>
              <a:rPr dirty="0" err="1"/>
              <a:t>设置y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轴名称：</a:t>
            </a:r>
            <a:r>
              <a:rPr dirty="0" err="1"/>
              <a:t>plt.ylabel</a:t>
            </a:r>
            <a:r>
              <a:rPr dirty="0"/>
              <a:t>()</a:t>
            </a:r>
          </a:p>
          <a:p>
            <a:r>
              <a:rPr dirty="0" err="1"/>
              <a:t>设置X轴范围：plt.xlim</a:t>
            </a:r>
            <a:r>
              <a:rPr dirty="0"/>
              <a:t>()</a:t>
            </a:r>
          </a:p>
          <a:p>
            <a:r>
              <a:rPr dirty="0" err="1"/>
              <a:t>设置Y轴范围：plt.ylim</a:t>
            </a:r>
            <a:r>
              <a:rPr dirty="0"/>
              <a:t>()</a:t>
            </a:r>
          </a:p>
          <a:p>
            <a:r>
              <a:rPr dirty="0" err="1"/>
              <a:t>设置X轴刻度：plt.xticks</a:t>
            </a:r>
            <a:r>
              <a:rPr dirty="0"/>
              <a:t>()</a:t>
            </a:r>
          </a:p>
          <a:p>
            <a:r>
              <a:rPr dirty="0" err="1"/>
              <a:t>设置Y轴刻度：plt.yticks</a:t>
            </a:r>
            <a:r>
              <a:rPr dirty="0"/>
              <a:t>()</a:t>
            </a:r>
          </a:p>
          <a:p>
            <a:r>
              <a:rPr dirty="0" err="1"/>
              <a:t>设置曲线图例：plt.legend</a:t>
            </a:r>
            <a:r>
              <a:rPr dirty="0"/>
              <a:t>()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其他类型图像</a:t>
            </a:r>
            <a:r>
              <a:rPr dirty="0"/>
              <a:t>：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rPr dirty="0"/>
              <a:t>Bar	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柱状图</a:t>
            </a:r>
            <a:endParaRPr dirty="0">
              <a:latin typeface="宋体"/>
              <a:ea typeface="宋体"/>
              <a:cs typeface="宋体"/>
              <a:sym typeface="宋体"/>
            </a:endParaRP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Pie               </a:t>
            </a:r>
            <a:r>
              <a:rPr dirty="0" err="1"/>
              <a:t>饼图</a:t>
            </a:r>
            <a:endParaRPr dirty="0"/>
          </a:p>
        </p:txBody>
      </p:sp>
      <p:sp>
        <p:nvSpPr>
          <p:cNvPr id="449" name="Shape 449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50" name="Shape 450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452"/>
          <p:cNvSpPr>
            <a:spLocks noGrp="1"/>
          </p:cNvSpPr>
          <p:nvPr>
            <p:ph type="title"/>
          </p:nvPr>
        </p:nvSpPr>
        <p:spPr>
          <a:xfrm>
            <a:off x="684213" y="3071815"/>
            <a:ext cx="7773986" cy="603252"/>
          </a:xfrm>
          <a:prstGeom prst="rect">
            <a:avLst/>
          </a:prstGeom>
        </p:spPr>
        <p:txBody>
          <a:bodyPr/>
          <a:lstStyle>
            <a:lvl1pPr defTabSz="676655">
              <a:defRPr sz="2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第四部分 在线平台与量化投资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454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55" name="Shape 45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股票数据分析</a:t>
            </a:r>
          </a:p>
        </p:txBody>
      </p:sp>
      <p:sp>
        <p:nvSpPr>
          <p:cNvPr id="456" name="Shape 456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 err="1"/>
              <a:t>使用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tushare包获取某只股票历史行情数据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输出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该股票所有收盘比开盘涨3%以上的日期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rPr dirty="0"/>
              <a:t>输出该股票所有开盘比前日收盘跌幅超过2%的日期</a:t>
            </a:r>
          </a:p>
        </p:txBody>
      </p:sp>
      <p:sp>
        <p:nvSpPr>
          <p:cNvPr id="457" name="Shape 457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58" name="Shape 458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460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61" name="Shape 46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本节内容</a:t>
            </a:r>
          </a:p>
        </p:txBody>
      </p:sp>
      <p:sp>
        <p:nvSpPr>
          <p:cNvPr id="462" name="Shape 462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第一个简单的策略（了解平台）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双均线策略</a:t>
            </a:r>
          </a:p>
        </p:txBody>
      </p:sp>
      <p:sp>
        <p:nvSpPr>
          <p:cNvPr id="463" name="Shape 463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64" name="Shape 464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47</a:t>
            </a:fld>
            <a:endParaRPr/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466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67" name="Shape 4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JoinQuant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平台</a:t>
            </a:r>
          </a:p>
        </p:txBody>
      </p:sp>
      <p:sp>
        <p:nvSpPr>
          <p:cNvPr id="468" name="Shape 468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主要框架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initialize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handle_data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……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获取历史数据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交易函数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回测频率：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按天回测</a:t>
            </a:r>
          </a:p>
          <a:p>
            <a:pPr marL="681037" lvl="1" indent="-327421">
              <a:spcBef>
                <a:spcPts val="400"/>
              </a:spcBef>
              <a:defRPr sz="1900">
                <a:latin typeface="宋体"/>
                <a:ea typeface="宋体"/>
                <a:cs typeface="宋体"/>
                <a:sym typeface="宋体"/>
              </a:defRPr>
            </a:pPr>
            <a:r>
              <a:t>按分钟回测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风险指标</a:t>
            </a:r>
          </a:p>
        </p:txBody>
      </p:sp>
      <p:sp>
        <p:nvSpPr>
          <p:cNvPr id="469" name="Shape 469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70" name="Shape 470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48</a:t>
            </a:fld>
            <a:endParaRPr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/>
          <p:nvPr/>
        </p:nvSpPr>
        <p:spPr>
          <a:xfrm>
            <a:off x="3124200" y="6381751"/>
            <a:ext cx="28956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算法基础</a:t>
            </a:r>
          </a:p>
        </p:txBody>
      </p:sp>
      <p:sp>
        <p:nvSpPr>
          <p:cNvPr id="473" name="Shape 47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r>
              <a:t>双均线策略</a:t>
            </a:r>
          </a:p>
        </p:txBody>
      </p:sp>
      <p:sp>
        <p:nvSpPr>
          <p:cNvPr id="474" name="Shape 474"/>
          <p:cNvSpPr>
            <a:spLocks noGrp="1"/>
          </p:cNvSpPr>
          <p:nvPr>
            <p:ph type="body" idx="1"/>
          </p:nvPr>
        </p:nvSpPr>
        <p:spPr>
          <a:xfrm>
            <a:off x="566737" y="1052513"/>
            <a:ext cx="8001001" cy="4967290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均线：对于每一个交易日，都可以计算出前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t>天的移动平均值，然后把这些移动平均值连起来，成为一条线，就叫做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t>日移动平均线。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移动平均线常用线有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5</a:t>
            </a:r>
            <a:r>
              <a:t>天、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10</a:t>
            </a:r>
            <a:r>
              <a:t>天、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30</a:t>
            </a:r>
            <a:r>
              <a:t>天、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60</a:t>
            </a:r>
            <a:r>
              <a:t>天、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120</a:t>
            </a:r>
            <a:r>
              <a:t>天和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240</a:t>
            </a:r>
            <a:r>
              <a:t>天的指标。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5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天和</a:t>
            </a:r>
            <a:r>
              <a:t>10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天的是短线操作的参照指标，称做日均线指标；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30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天和</a:t>
            </a:r>
            <a:r>
              <a:t>60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天的是中期均线指标，称做季均线指标；</a:t>
            </a:r>
          </a:p>
          <a:p>
            <a:pPr marL="681037" lvl="1" indent="-327421">
              <a:spcBef>
                <a:spcPts val="400"/>
              </a:spcBef>
              <a:defRPr sz="1900"/>
            </a:pPr>
            <a:r>
              <a:t>120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天、</a:t>
            </a:r>
            <a:r>
              <a:t>240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天的是长期均线指标，称做年均线指标。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金叉：短期均线上穿长期均线</a:t>
            </a:r>
          </a:p>
          <a:p>
            <a:pPr>
              <a:defRPr>
                <a:latin typeface="宋体"/>
                <a:ea typeface="宋体"/>
                <a:cs typeface="宋体"/>
                <a:sym typeface="宋体"/>
              </a:defRPr>
            </a:pPr>
            <a:r>
              <a:t>死叉：短期均线下穿长期均线</a:t>
            </a:r>
          </a:p>
        </p:txBody>
      </p:sp>
      <p:sp>
        <p:nvSpPr>
          <p:cNvPr id="475" name="Shape 475"/>
          <p:cNvSpPr/>
          <p:nvPr/>
        </p:nvSpPr>
        <p:spPr>
          <a:xfrm>
            <a:off x="609600" y="6381751"/>
            <a:ext cx="1981200" cy="25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latin typeface="Verdana"/>
                <a:ea typeface="Verdana"/>
                <a:cs typeface="Verdana"/>
                <a:sym typeface="Verdana"/>
              </a:defRPr>
            </a:pPr>
            <a:r>
              <a:t>2017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</a:t>
            </a:r>
            <a:r>
              <a:t>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月</a:t>
            </a:r>
            <a:r>
              <a:t>26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日</a:t>
            </a:r>
          </a:p>
        </p:txBody>
      </p:sp>
      <p:sp>
        <p:nvSpPr>
          <p:cNvPr id="476" name="Shape 476"/>
          <p:cNvSpPr>
            <a:spLocks noGrp="1"/>
          </p:cNvSpPr>
          <p:nvPr>
            <p:ph type="sldNum" sz="quarter" idx="4294967295"/>
          </p:nvPr>
        </p:nvSpPr>
        <p:spPr>
          <a:xfrm>
            <a:off x="8284929" y="6453189"/>
            <a:ext cx="249469" cy="2311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49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Profile">
  <a:themeElements>
    <a:clrScheme name="Profil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B2C1"/>
      </a:accent1>
      <a:accent2>
        <a:srgbClr val="CC0000"/>
      </a:accent2>
      <a:accent3>
        <a:srgbClr val="8F8F8F"/>
      </a:accent3>
      <a:accent4>
        <a:srgbClr val="707070"/>
      </a:accent4>
      <a:accent5>
        <a:srgbClr val="CED5DD"/>
      </a:accent5>
      <a:accent6>
        <a:srgbClr val="B90000"/>
      </a:accent6>
      <a:hlink>
        <a:srgbClr val="0000FF"/>
      </a:hlink>
      <a:folHlink>
        <a:srgbClr val="FF00FF"/>
      </a:folHlink>
    </a:clrScheme>
    <a:fontScheme name="Profil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Profi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Profile">
  <a:themeElements>
    <a:clrScheme name="Profil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B2C1"/>
      </a:accent1>
      <a:accent2>
        <a:srgbClr val="CC0000"/>
      </a:accent2>
      <a:accent3>
        <a:srgbClr val="8F8F8F"/>
      </a:accent3>
      <a:accent4>
        <a:srgbClr val="707070"/>
      </a:accent4>
      <a:accent5>
        <a:srgbClr val="CED5DD"/>
      </a:accent5>
      <a:accent6>
        <a:srgbClr val="B90000"/>
      </a:accent6>
      <a:hlink>
        <a:srgbClr val="0000FF"/>
      </a:hlink>
      <a:folHlink>
        <a:srgbClr val="FF00FF"/>
      </a:folHlink>
    </a:clrScheme>
    <a:fontScheme name="Profil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Profi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1701</Words>
  <Application>Microsoft Office PowerPoint</Application>
  <PresentationFormat>全屏显示(4:3)</PresentationFormat>
  <Paragraphs>536</Paragraphs>
  <Slides>49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0" baseType="lpstr">
      <vt:lpstr>Profile</vt:lpstr>
      <vt:lpstr>第一部分：金融与量化投资</vt:lpstr>
      <vt:lpstr>股票</vt:lpstr>
      <vt:lpstr>股票的分类</vt:lpstr>
      <vt:lpstr>股票市场的构成</vt:lpstr>
      <vt:lpstr>影响股价的因素</vt:lpstr>
      <vt:lpstr>股票买卖（A股）</vt:lpstr>
      <vt:lpstr>金融分析</vt:lpstr>
      <vt:lpstr>K线</vt:lpstr>
      <vt:lpstr>金融量化投资</vt:lpstr>
      <vt:lpstr>量化策略</vt:lpstr>
      <vt:lpstr>第二部分：量化投资与Python</vt:lpstr>
      <vt:lpstr>量化投资与Python</vt:lpstr>
      <vt:lpstr>IPython:交互式的Python命令行</vt:lpstr>
      <vt:lpstr>Ipython常用的魔术命令</vt:lpstr>
      <vt:lpstr>Python调试器命令</vt:lpstr>
      <vt:lpstr>Ipython快捷键</vt:lpstr>
      <vt:lpstr>NumPy：数组计算</vt:lpstr>
      <vt:lpstr>NumPy：ndarray-多维数组对象</vt:lpstr>
      <vt:lpstr>NumPy：ndarray-多维数组对象</vt:lpstr>
      <vt:lpstr>NumPy：索引和切片</vt:lpstr>
      <vt:lpstr>NumPy：布尔型索引</vt:lpstr>
      <vt:lpstr>NumPy：花式索引*</vt:lpstr>
      <vt:lpstr>NumPy：通用函数</vt:lpstr>
      <vt:lpstr>NumPy：数学和统计方法</vt:lpstr>
      <vt:lpstr>NumPy：随机数生成</vt:lpstr>
      <vt:lpstr>pandas：数据分析</vt:lpstr>
      <vt:lpstr>pandas：Series</vt:lpstr>
      <vt:lpstr>pandas：Series特性</vt:lpstr>
      <vt:lpstr>pandas：Series数据对齐</vt:lpstr>
      <vt:lpstr>pandas：Series缺失数据</vt:lpstr>
      <vt:lpstr>pandas：DataFrame</vt:lpstr>
      <vt:lpstr>pandas：DataFrame查看数据</vt:lpstr>
      <vt:lpstr>pandas：DataFrame索引和切片</vt:lpstr>
      <vt:lpstr>pandas：DataFrame索引和切片</vt:lpstr>
      <vt:lpstr>pandas：DataFrame数据对齐与缺失数据</vt:lpstr>
      <vt:lpstr>pandas：其他常用方法</vt:lpstr>
      <vt:lpstr>pandas：从文件读取</vt:lpstr>
      <vt:lpstr>pandas：写入到文件</vt:lpstr>
      <vt:lpstr>pandas：时间对象处理</vt:lpstr>
      <vt:lpstr>pandas：时间对象处理</vt:lpstr>
      <vt:lpstr>pandas：时间序列</vt:lpstr>
      <vt:lpstr>Matplotlib：绘图和可视化</vt:lpstr>
      <vt:lpstr>Matplotlib：plot函数</vt:lpstr>
      <vt:lpstr>Matplotlib：图像标注</vt:lpstr>
      <vt:lpstr>第四部分 在线平台与量化投资</vt:lpstr>
      <vt:lpstr>股票数据分析</vt:lpstr>
      <vt:lpstr>本节内容</vt:lpstr>
      <vt:lpstr>JoinQuant平台</vt:lpstr>
      <vt:lpstr>双均线策略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第一部分：金融与量化投资</dc:title>
  <dc:creator>oldboy</dc:creator>
  <cp:lastModifiedBy>oldboy</cp:lastModifiedBy>
  <cp:revision>4</cp:revision>
  <dcterms:modified xsi:type="dcterms:W3CDTF">2019-05-20T02:33:34Z</dcterms:modified>
</cp:coreProperties>
</file>